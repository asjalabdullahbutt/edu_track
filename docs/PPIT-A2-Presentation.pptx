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8" r:id="rId5"/>
    <p:sldId id="261" r:id="rId6"/>
    <p:sldId id="259" r:id="rId7"/>
    <p:sldId id="280" r:id="rId8"/>
    <p:sldId id="281" r:id="rId9"/>
    <p:sldId id="282" r:id="rId10"/>
    <p:sldId id="265" r:id="rId11"/>
  </p:sldIdLst>
  <p:sldSz cx="18288000" cy="10287000"/>
  <p:notesSz cx="6858000" cy="9144000"/>
  <p:embeddedFontLst>
    <p:embeddedFont>
      <p:font typeface="HK Grotesk" panose="020B0604020202020204" charset="0"/>
      <p:regular r:id="rId13"/>
    </p:embeddedFont>
    <p:embeddedFont>
      <p:font typeface="Candara" panose="020E0502030303020204" pitchFamily="34" charset="0"/>
      <p:regular r:id="rId14"/>
      <p:bold r:id="rId15"/>
      <p:italic r:id="rId16"/>
      <p:boldItalic r:id="rId17"/>
    </p:embeddedFont>
    <p:embeddedFont>
      <p:font typeface="Arial Black" panose="020B0A04020102020204" pitchFamily="3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HK Grotesk Italics" panose="020B0604020202020204" charset="0"/>
      <p:regular r:id="rId23"/>
    </p:embeddedFont>
    <p:embeddedFont>
      <p:font typeface="Glacial Indifference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7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103" autoAdjust="0"/>
  </p:normalViewPr>
  <p:slideViewPr>
    <p:cSldViewPr>
      <p:cViewPr varScale="1">
        <p:scale>
          <a:sx n="44" d="100"/>
          <a:sy n="44" d="100"/>
        </p:scale>
        <p:origin x="66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EA68BC1-0214-475A-AAEB-F2C106BEDF3D}">
      <dgm:prSet custT="1"/>
      <dgm:spPr/>
      <dgm:t>
        <a:bodyPr/>
        <a:lstStyle/>
        <a:p>
          <a:pPr algn="ctr"/>
          <a:r>
            <a:rPr lang="en-GB" sz="3600" b="1" dirty="0" smtClean="0">
              <a:latin typeface="+mj-lt"/>
              <a:cs typeface="Calibri" charset="0"/>
            </a:rPr>
            <a:t>Unique Market Focus</a:t>
          </a:r>
          <a:endParaRPr lang="en-US" sz="3600" b="1" dirty="0">
            <a:latin typeface="+mj-lt"/>
          </a:endParaRPr>
        </a:p>
      </dgm:t>
    </dgm:pt>
    <dgm:pt modelId="{D39F5498-D166-4D4F-959E-220D13F281F2}" type="parTrans" cxnId="{4A7F6715-186E-49A7-B901-131CC9610C6D}">
      <dgm:prSet/>
      <dgm:spPr/>
      <dgm:t>
        <a:bodyPr/>
        <a:lstStyle/>
        <a:p>
          <a:endParaRPr lang="en-US"/>
        </a:p>
      </dgm:t>
    </dgm:pt>
    <dgm:pt modelId="{D52D63DB-7300-43C9-9B4D-DCAB119753ED}" type="sibTrans" cxnId="{4A7F6715-186E-49A7-B901-131CC9610C6D}">
      <dgm:prSet/>
      <dgm:spPr/>
      <dgm:t>
        <a:bodyPr/>
        <a:lstStyle/>
        <a:p>
          <a:endParaRPr lang="en-US"/>
        </a:p>
      </dgm:t>
    </dgm:pt>
    <dgm:pt modelId="{6E78410F-604C-43A6-A991-1F6A0685C76E}">
      <dgm:prSet custT="1"/>
      <dgm:spPr/>
      <dgm:t>
        <a:bodyPr lIns="182880" tIns="182880" rIns="182880" bIns="182880"/>
        <a:lstStyle/>
        <a:p>
          <a:pPr marL="0" algn="ctr">
            <a:lnSpc>
              <a:spcPct val="100000"/>
            </a:lnSpc>
            <a:buNone/>
          </a:pPr>
          <a:r>
            <a:rPr lang="en-US" sz="2800" b="0" i="0" dirty="0" smtClean="0">
              <a:solidFill>
                <a:schemeClr val="tx1"/>
              </a:solidFill>
              <a:latin typeface="Candara" panose="020E0502030303020204" pitchFamily="34" charset="0"/>
            </a:rPr>
            <a:t>Targeting the adventure EV market (trucks and SUVs for outdoor enthusiasts) rather than luxury sedans.</a:t>
          </a:r>
          <a:endParaRPr lang="en-US" sz="2800" dirty="0">
            <a:solidFill>
              <a:schemeClr val="tx1"/>
            </a:solidFill>
            <a:latin typeface="Candara" panose="020E0502030303020204" pitchFamily="34" charset="0"/>
            <a:ea typeface="Calibri" charset="0"/>
            <a:cs typeface="Calibri" charset="0"/>
          </a:endParaRPr>
        </a:p>
      </dgm:t>
    </dgm:pt>
    <dgm:pt modelId="{B87758DC-95B9-415D-8FA2-3A592F03EEB6}" type="parTrans" cxnId="{E6E94786-140A-4645-ACBD-B11A56308E02}">
      <dgm:prSet/>
      <dgm:spPr/>
      <dgm:t>
        <a:bodyPr/>
        <a:lstStyle/>
        <a:p>
          <a:endParaRPr lang="en-US"/>
        </a:p>
      </dgm:t>
    </dgm:pt>
    <dgm:pt modelId="{81ADE71D-3BBC-45B9-8FE7-89C53F21FB8E}" type="sibTrans" cxnId="{E6E94786-140A-4645-ACBD-B11A56308E02}">
      <dgm:prSet/>
      <dgm:spPr/>
      <dgm:t>
        <a:bodyPr/>
        <a:lstStyle/>
        <a:p>
          <a:endParaRPr lang="en-US"/>
        </a:p>
      </dgm:t>
    </dgm:pt>
    <dgm:pt modelId="{57B30C7E-2C98-474C-972A-4A9F013596F6}">
      <dgm:prSet custT="1"/>
      <dgm:spPr/>
      <dgm:t>
        <a:bodyPr/>
        <a:lstStyle/>
        <a:p>
          <a:pPr algn="ctr"/>
          <a:r>
            <a:rPr lang="en-GB" sz="3600" b="1" dirty="0" smtClean="0">
              <a:latin typeface="+mj-lt"/>
              <a:cs typeface="Calibri" charset="0"/>
            </a:rPr>
            <a:t>Software and IT Integration</a:t>
          </a:r>
          <a:endParaRPr lang="en-US" sz="3600" b="1" dirty="0">
            <a:latin typeface="+mj-lt"/>
            <a:cs typeface="Calibri" charset="0"/>
          </a:endParaRPr>
        </a:p>
      </dgm:t>
    </dgm:pt>
    <dgm:pt modelId="{3C56CB1B-7905-41E8-90E6-A55A14BA7821}" type="parTrans" cxnId="{13126A2F-129D-4762-93CF-9798949EB589}">
      <dgm:prSet/>
      <dgm:spPr/>
      <dgm:t>
        <a:bodyPr/>
        <a:lstStyle/>
        <a:p>
          <a:endParaRPr lang="en-US"/>
        </a:p>
      </dgm:t>
    </dgm:pt>
    <dgm:pt modelId="{7F14057D-1A20-4F64-A110-C77AC5F00602}" type="sibTrans" cxnId="{13126A2F-129D-4762-93CF-9798949EB589}">
      <dgm:prSet/>
      <dgm:spPr/>
      <dgm:t>
        <a:bodyPr/>
        <a:lstStyle/>
        <a:p>
          <a:endParaRPr lang="en-US"/>
        </a:p>
      </dgm:t>
    </dgm:pt>
    <dgm:pt modelId="{B45FF3C1-5A75-4E4C-B2B6-84B0FAC421C2}">
      <dgm:prSet custT="1"/>
      <dgm:spPr/>
      <dgm:t>
        <a:bodyPr lIns="182880" tIns="182880" rIns="182880" bIns="182880"/>
        <a:lstStyle/>
        <a:p>
          <a:pPr marL="0" algn="ctr">
            <a:lnSpc>
              <a:spcPct val="100000"/>
            </a:lnSpc>
            <a:buNone/>
          </a:pPr>
          <a:r>
            <a:rPr lang="en-US" sz="2800" b="0" i="0" dirty="0" smtClean="0">
              <a:solidFill>
                <a:schemeClr val="tx1"/>
              </a:solidFill>
              <a:latin typeface="Candara" panose="020E0502030303020204" pitchFamily="34" charset="0"/>
            </a:rPr>
            <a:t>Rivian designs software-defined vehicles to enable over-the-air updates, real-time data analytics, and cloud-based diagnostics</a:t>
          </a:r>
          <a:r>
            <a:rPr lang="en-US" sz="2800" b="0" i="0" dirty="0" smtClean="0"/>
            <a:t>.</a:t>
          </a:r>
          <a:endParaRPr lang="en-US" sz="2800" dirty="0">
            <a:latin typeface="Calibri" charset="0"/>
            <a:ea typeface="Calibri" charset="0"/>
            <a:cs typeface="Calibri" charset="0"/>
          </a:endParaRPr>
        </a:p>
      </dgm:t>
    </dgm:pt>
    <dgm:pt modelId="{34A81C80-FF70-48EA-B442-BDB1EF403754}" type="parTrans" cxnId="{D6AF6FC0-4B56-4246-AC09-69D41F1CFC6B}">
      <dgm:prSet/>
      <dgm:spPr/>
      <dgm:t>
        <a:bodyPr/>
        <a:lstStyle/>
        <a:p>
          <a:endParaRPr lang="en-US"/>
        </a:p>
      </dgm:t>
    </dgm:pt>
    <dgm:pt modelId="{5B9815BA-8A8F-4251-B182-AD39A4FE26DD}" type="sibTrans" cxnId="{D6AF6FC0-4B56-4246-AC09-69D41F1CFC6B}">
      <dgm:prSet/>
      <dgm:spPr/>
      <dgm:t>
        <a:bodyPr/>
        <a:lstStyle/>
        <a:p>
          <a:endParaRPr lang="en-US"/>
        </a:p>
      </dgm:t>
    </dgm:pt>
    <dgm:pt modelId="{0A954AA6-C6B0-4271-8792-CCCE30CE7D69}">
      <dgm:prSet custT="1"/>
      <dgm:spPr/>
      <dgm:t>
        <a:bodyPr/>
        <a:lstStyle/>
        <a:p>
          <a:r>
            <a:rPr lang="en-GB" sz="3600" b="1" dirty="0" smtClean="0">
              <a:latin typeface="+mj-lt"/>
              <a:cs typeface="Calibri" charset="0"/>
            </a:rPr>
            <a:t>Strategic Partnerships</a:t>
          </a:r>
          <a:endParaRPr lang="en-US" sz="3600" b="1" dirty="0">
            <a:latin typeface="+mj-lt"/>
            <a:cs typeface="Calibri" charset="0"/>
          </a:endParaRPr>
        </a:p>
      </dgm:t>
    </dgm:pt>
    <dgm:pt modelId="{81CA91A9-12C9-4000-A833-6528B617CCA1}" type="parTrans" cxnId="{61DE8435-87FC-4ED8-A1D9-A0E36224C192}">
      <dgm:prSet/>
      <dgm:spPr/>
      <dgm:t>
        <a:bodyPr/>
        <a:lstStyle/>
        <a:p>
          <a:endParaRPr lang="en-US"/>
        </a:p>
      </dgm:t>
    </dgm:pt>
    <dgm:pt modelId="{7635DF39-FFCE-4F67-A43A-C3F7B847830D}" type="sibTrans" cxnId="{61DE8435-87FC-4ED8-A1D9-A0E36224C192}">
      <dgm:prSet/>
      <dgm:spPr/>
      <dgm:t>
        <a:bodyPr/>
        <a:lstStyle/>
        <a:p>
          <a:endParaRPr lang="en-US"/>
        </a:p>
      </dgm:t>
    </dgm:pt>
    <dgm:pt modelId="{838BD54C-88AD-40D7-AF5F-AB65EB0898A5}">
      <dgm:prSet custT="1"/>
      <dgm:spPr/>
      <dgm:t>
        <a:bodyPr lIns="182880" tIns="182880" rIns="182880" bIns="182880"/>
        <a:lstStyle/>
        <a:p>
          <a:pPr marL="0" algn="ctr">
            <a:lnSpc>
              <a:spcPct val="100000"/>
            </a:lnSpc>
            <a:buNone/>
          </a:pPr>
          <a:r>
            <a:rPr lang="en-US" sz="2800" b="0" i="0" dirty="0" smtClean="0">
              <a:solidFill>
                <a:schemeClr val="tx1"/>
              </a:solidFill>
              <a:latin typeface="Candara" panose="020E0502030303020204" pitchFamily="34" charset="0"/>
            </a:rPr>
            <a:t>Amazon and Ford invested heavily early which ensured </a:t>
          </a:r>
          <a:r>
            <a:rPr lang="en-GB" sz="2800" b="0" i="0" dirty="0" smtClean="0">
              <a:solidFill>
                <a:schemeClr val="tx1"/>
              </a:solidFill>
              <a:latin typeface="Candara" panose="020E0502030303020204" pitchFamily="34" charset="0"/>
            </a:rPr>
            <a:t>credibility and financial strength</a:t>
          </a:r>
          <a:r>
            <a:rPr lang="en-GB" sz="2800" b="0" i="0" dirty="0" smtClean="0"/>
            <a:t>.</a:t>
          </a:r>
          <a:endParaRPr lang="en-US" sz="2800" b="0" i="0" dirty="0"/>
        </a:p>
      </dgm:t>
    </dgm:pt>
    <dgm:pt modelId="{FD106F30-FED7-4A4D-9063-A51FC1861B8D}" type="parTrans" cxnId="{122438FB-0EB1-4DC7-B97A-C5EDE3236321}">
      <dgm:prSet/>
      <dgm:spPr/>
      <dgm:t>
        <a:bodyPr/>
        <a:lstStyle/>
        <a:p>
          <a:endParaRPr lang="en-US"/>
        </a:p>
      </dgm:t>
    </dgm:pt>
    <dgm:pt modelId="{C5AC6457-3C00-4583-9061-8DA5017D63FF}" type="sibTrans" cxnId="{122438FB-0EB1-4DC7-B97A-C5EDE3236321}">
      <dgm:prSet/>
      <dgm:spPr/>
      <dgm:t>
        <a:bodyPr/>
        <a:lstStyle/>
        <a:p>
          <a:endParaRPr lang="en-US"/>
        </a:p>
      </dgm:t>
    </dgm:pt>
    <dgm:pt modelId="{1E1BD5C7-7E98-4E9C-980A-6231C710F86D}">
      <dgm:prSet custT="1"/>
      <dgm:spPr/>
      <dgm:t>
        <a:bodyPr/>
        <a:lstStyle/>
        <a:p>
          <a:r>
            <a:rPr lang="en-GB" sz="3600" b="1" dirty="0" smtClean="0">
              <a:latin typeface="+mj-lt"/>
              <a:cs typeface="Calibri" charset="0"/>
            </a:rPr>
            <a:t>Community and Experience</a:t>
          </a:r>
          <a:endParaRPr lang="en-US" sz="3600" b="1" dirty="0">
            <a:latin typeface="+mj-lt"/>
            <a:cs typeface="Calibri" charset="0"/>
          </a:endParaRPr>
        </a:p>
      </dgm:t>
    </dgm:pt>
    <dgm:pt modelId="{63D0BD99-D324-4743-A063-0F16264E6A03}" type="parTrans" cxnId="{F291143C-5080-4FD6-BEEA-B126FBAFEC70}">
      <dgm:prSet/>
      <dgm:spPr/>
      <dgm:t>
        <a:bodyPr/>
        <a:lstStyle/>
        <a:p>
          <a:endParaRPr lang="en-US"/>
        </a:p>
      </dgm:t>
    </dgm:pt>
    <dgm:pt modelId="{BDC49242-DD3A-494A-A4AF-E750AD6D3DAB}" type="sibTrans" cxnId="{F291143C-5080-4FD6-BEEA-B126FBAFEC70}">
      <dgm:prSet/>
      <dgm:spPr/>
      <dgm:t>
        <a:bodyPr/>
        <a:lstStyle/>
        <a:p>
          <a:endParaRPr lang="en-US"/>
        </a:p>
      </dgm:t>
    </dgm:pt>
    <dgm:pt modelId="{A0B60079-4AAF-49AC-8F08-8A2DFAEE29DB}">
      <dgm:prSet custT="1"/>
      <dgm:spPr/>
      <dgm:t>
        <a:bodyPr lIns="182880" tIns="182880" rIns="182880" bIns="182880"/>
        <a:lstStyle/>
        <a:p>
          <a:pPr marL="0" algn="ctr">
            <a:lnSpc>
              <a:spcPct val="100000"/>
            </a:lnSpc>
            <a:buNone/>
          </a:pPr>
          <a:r>
            <a:rPr lang="en-US" sz="2800" b="0" i="0" dirty="0" smtClean="0">
              <a:solidFill>
                <a:schemeClr val="tx1"/>
              </a:solidFill>
              <a:latin typeface="Candara" panose="020E0502030303020204" pitchFamily="34" charset="0"/>
            </a:rPr>
            <a:t>Created a loyal user community by aligning the brand with exploration and environmental values.</a:t>
          </a:r>
          <a:endParaRPr lang="en-US" sz="2800" b="0" i="0" dirty="0">
            <a:solidFill>
              <a:schemeClr val="tx1"/>
            </a:solidFill>
            <a:latin typeface="Candara" panose="020E0502030303020204" pitchFamily="34" charset="0"/>
          </a:endParaRPr>
        </a:p>
      </dgm:t>
    </dgm:pt>
    <dgm:pt modelId="{94E190C2-DE76-4E92-9B8B-12C8AC85398D}" type="parTrans" cxnId="{DA65D739-98AB-49B5-B28F-78D06B43157F}">
      <dgm:prSet/>
      <dgm:spPr/>
      <dgm:t>
        <a:bodyPr/>
        <a:lstStyle/>
        <a:p>
          <a:endParaRPr lang="en-US"/>
        </a:p>
      </dgm:t>
    </dgm:pt>
    <dgm:pt modelId="{B3783AFC-A7BD-4A0E-8A53-49FBB33EB50F}" type="sibTrans" cxnId="{DA65D739-98AB-49B5-B28F-78D06B43157F}">
      <dgm:prSet/>
      <dgm:spPr/>
      <dgm:t>
        <a:bodyPr/>
        <a:lstStyle/>
        <a:p>
          <a:endParaRPr lang="en-US"/>
        </a:p>
      </dgm:t>
    </dgm:pt>
    <dgm:pt modelId="{917788B4-4702-452B-A9BF-BD370AC7C91D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4C7622E-B3EE-4BFC-B751-4B261C400F01}" type="pres">
      <dgm:prSet presAssocID="{CEA68BC1-0214-475A-AAEB-F2C106BEDF3D}" presName="composite" presStyleCnt="0"/>
      <dgm:spPr/>
      <dgm:t>
        <a:bodyPr/>
        <a:lstStyle/>
        <a:p>
          <a:endParaRPr lang="en-GB"/>
        </a:p>
      </dgm:t>
    </dgm:pt>
    <dgm:pt modelId="{80A1A6DF-0273-4C9F-A1CF-A320F9DB6FD1}" type="pres">
      <dgm:prSet presAssocID="{CEA68BC1-0214-475A-AAEB-F2C106BEDF3D}" presName="parTx" presStyleLbl="alignNode1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910C52EF-D1F5-4581-A150-24B263AF9343}" type="pres">
      <dgm:prSet presAssocID="{CEA68BC1-0214-475A-AAEB-F2C106BEDF3D}" presName="desTx" presStyleLbl="alignAccFollowNode1" presStyleIdx="0" presStyleCnt="4">
        <dgm:presLayoutVars/>
      </dgm:prSet>
      <dgm:spPr/>
      <dgm:t>
        <a:bodyPr/>
        <a:lstStyle/>
        <a:p>
          <a:endParaRPr lang="en-GB"/>
        </a:p>
      </dgm:t>
    </dgm:pt>
    <dgm:pt modelId="{06DEF15E-2A95-4424-9CA3-93FFF5A22F97}" type="pres">
      <dgm:prSet presAssocID="{D52D63DB-7300-43C9-9B4D-DCAB119753ED}" presName="space" presStyleCnt="0"/>
      <dgm:spPr/>
      <dgm:t>
        <a:bodyPr/>
        <a:lstStyle/>
        <a:p>
          <a:endParaRPr lang="en-GB"/>
        </a:p>
      </dgm:t>
    </dgm:pt>
    <dgm:pt modelId="{0D1CB9BF-C612-4FA5-A8ED-CBAA77D93857}" type="pres">
      <dgm:prSet presAssocID="{57B30C7E-2C98-474C-972A-4A9F013596F6}" presName="composite" presStyleCnt="0"/>
      <dgm:spPr/>
      <dgm:t>
        <a:bodyPr/>
        <a:lstStyle/>
        <a:p>
          <a:endParaRPr lang="en-GB"/>
        </a:p>
      </dgm:t>
    </dgm:pt>
    <dgm:pt modelId="{1F484571-9C36-4EBC-94E8-740ECF59A9E8}" type="pres">
      <dgm:prSet presAssocID="{57B30C7E-2C98-474C-972A-4A9F013596F6}" presName="parTx" presStyleLbl="alignNode1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8382FB71-379A-4A42-BEC2-AAF439B565D5}" type="pres">
      <dgm:prSet presAssocID="{57B30C7E-2C98-474C-972A-4A9F013596F6}" presName="desTx" presStyleLbl="alignAccFollowNode1" presStyleIdx="1" presStyleCnt="4">
        <dgm:presLayoutVars/>
      </dgm:prSet>
      <dgm:spPr/>
      <dgm:t>
        <a:bodyPr/>
        <a:lstStyle/>
        <a:p>
          <a:endParaRPr lang="en-GB"/>
        </a:p>
      </dgm:t>
    </dgm:pt>
    <dgm:pt modelId="{CEAD898F-DA15-46A5-A07C-10D30E78B5E8}" type="pres">
      <dgm:prSet presAssocID="{7F14057D-1A20-4F64-A110-C77AC5F00602}" presName="space" presStyleCnt="0"/>
      <dgm:spPr/>
      <dgm:t>
        <a:bodyPr/>
        <a:lstStyle/>
        <a:p>
          <a:endParaRPr lang="en-GB"/>
        </a:p>
      </dgm:t>
    </dgm:pt>
    <dgm:pt modelId="{BEA164EE-1450-4AEB-9527-4E22FBF3C1A8}" type="pres">
      <dgm:prSet presAssocID="{0A954AA6-C6B0-4271-8792-CCCE30CE7D69}" presName="composite" presStyleCnt="0"/>
      <dgm:spPr/>
      <dgm:t>
        <a:bodyPr/>
        <a:lstStyle/>
        <a:p>
          <a:endParaRPr lang="en-GB"/>
        </a:p>
      </dgm:t>
    </dgm:pt>
    <dgm:pt modelId="{6B33ABE5-CEF1-4B39-82C3-F1FC644C0A8F}" type="pres">
      <dgm:prSet presAssocID="{0A954AA6-C6B0-4271-8792-CCCE30CE7D69}" presName="parTx" presStyleLbl="alignNode1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D49AD3F7-B2B6-4709-A43B-C22DEB981B39}" type="pres">
      <dgm:prSet presAssocID="{0A954AA6-C6B0-4271-8792-CCCE30CE7D69}" presName="desTx" presStyleLbl="alignAccFollowNode1" presStyleIdx="2" presStyleCnt="4">
        <dgm:presLayoutVars/>
      </dgm:prSet>
      <dgm:spPr/>
      <dgm:t>
        <a:bodyPr/>
        <a:lstStyle/>
        <a:p>
          <a:endParaRPr lang="en-GB"/>
        </a:p>
      </dgm:t>
    </dgm:pt>
    <dgm:pt modelId="{C83CA8A9-5873-4873-B14F-2F0E7FB2ABCC}" type="pres">
      <dgm:prSet presAssocID="{7635DF39-FFCE-4F67-A43A-C3F7B847830D}" presName="space" presStyleCnt="0"/>
      <dgm:spPr/>
      <dgm:t>
        <a:bodyPr/>
        <a:lstStyle/>
        <a:p>
          <a:endParaRPr lang="en-GB"/>
        </a:p>
      </dgm:t>
    </dgm:pt>
    <dgm:pt modelId="{952DF76F-9AB8-4BB6-B004-372FA36D16E3}" type="pres">
      <dgm:prSet presAssocID="{1E1BD5C7-7E98-4E9C-980A-6231C710F86D}" presName="composite" presStyleCnt="0"/>
      <dgm:spPr/>
      <dgm:t>
        <a:bodyPr/>
        <a:lstStyle/>
        <a:p>
          <a:endParaRPr lang="en-GB"/>
        </a:p>
      </dgm:t>
    </dgm:pt>
    <dgm:pt modelId="{4AE355A7-3A54-47B1-8CB5-F35120F77B1B}" type="pres">
      <dgm:prSet presAssocID="{1E1BD5C7-7E98-4E9C-980A-6231C710F86D}" presName="parTx" presStyleLbl="alignNode1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C0A30CE6-D937-498A-8D1C-AB49CDB4AE52}" type="pres">
      <dgm:prSet presAssocID="{1E1BD5C7-7E98-4E9C-980A-6231C710F86D}" presName="desTx" presStyleLbl="alignAccFollowNode1" presStyleIdx="3" presStyleCnt="4">
        <dgm:presLayoutVars/>
      </dgm:prSet>
      <dgm:spPr/>
      <dgm:t>
        <a:bodyPr/>
        <a:lstStyle/>
        <a:p>
          <a:endParaRPr lang="en-GB"/>
        </a:p>
      </dgm:t>
    </dgm:pt>
  </dgm:ptLst>
  <dgm:cxnLst>
    <dgm:cxn modelId="{13126A2F-129D-4762-93CF-9798949EB589}" srcId="{0DD8915E-DC14-41D6-9BB5-F49E1C265163}" destId="{57B30C7E-2C98-474C-972A-4A9F013596F6}" srcOrd="1" destOrd="0" parTransId="{3C56CB1B-7905-41E8-90E6-A55A14BA7821}" sibTransId="{7F14057D-1A20-4F64-A110-C77AC5F00602}"/>
    <dgm:cxn modelId="{4A7F6715-186E-49A7-B901-131CC9610C6D}" srcId="{0DD8915E-DC14-41D6-9BB5-F49E1C265163}" destId="{CEA68BC1-0214-475A-AAEB-F2C106BEDF3D}" srcOrd="0" destOrd="0" parTransId="{D39F5498-D166-4D4F-959E-220D13F281F2}" sibTransId="{D52D63DB-7300-43C9-9B4D-DCAB119753ED}"/>
    <dgm:cxn modelId="{B914E821-4A78-476D-AFFB-4B06C0FA1085}" type="presOf" srcId="{CEA68BC1-0214-475A-AAEB-F2C106BEDF3D}" destId="{80A1A6DF-0273-4C9F-A1CF-A320F9DB6FD1}" srcOrd="0" destOrd="0" presId="urn:microsoft.com/office/officeart/2016/7/layout/HorizontalActionList"/>
    <dgm:cxn modelId="{9627992D-25BD-4166-9230-46D434F57C33}" type="presOf" srcId="{B45FF3C1-5A75-4E4C-B2B6-84B0FAC421C2}" destId="{8382FB71-379A-4A42-BEC2-AAF439B565D5}" srcOrd="0" destOrd="0" presId="urn:microsoft.com/office/officeart/2016/7/layout/HorizontalActionList"/>
    <dgm:cxn modelId="{612F125A-2352-4656-A64F-DFD0CC77DF18}" type="presOf" srcId="{57B30C7E-2C98-474C-972A-4A9F013596F6}" destId="{1F484571-9C36-4EBC-94E8-740ECF59A9E8}" srcOrd="0" destOrd="0" presId="urn:microsoft.com/office/officeart/2016/7/layout/HorizontalActionList"/>
    <dgm:cxn modelId="{A35616BE-CB31-41C5-AE1F-DC9CE9EBEF0C}" type="presOf" srcId="{0DD8915E-DC14-41D6-9BB5-F49E1C265163}" destId="{917788B4-4702-452B-A9BF-BD370AC7C91D}" srcOrd="0" destOrd="0" presId="urn:microsoft.com/office/officeart/2016/7/layout/HorizontalActionList"/>
    <dgm:cxn modelId="{7BA8FA96-8C51-4074-8472-18911321271D}" type="presOf" srcId="{838BD54C-88AD-40D7-AF5F-AB65EB0898A5}" destId="{D49AD3F7-B2B6-4709-A43B-C22DEB981B39}" srcOrd="0" destOrd="0" presId="urn:microsoft.com/office/officeart/2016/7/layout/HorizontalActionList"/>
    <dgm:cxn modelId="{0B362C8A-6E94-4C4C-AEF2-360E7AA5345B}" type="presOf" srcId="{1E1BD5C7-7E98-4E9C-980A-6231C710F86D}" destId="{4AE355A7-3A54-47B1-8CB5-F35120F77B1B}" srcOrd="0" destOrd="0" presId="urn:microsoft.com/office/officeart/2016/7/layout/HorizontalActionList"/>
    <dgm:cxn modelId="{DA65D739-98AB-49B5-B28F-78D06B43157F}" srcId="{1E1BD5C7-7E98-4E9C-980A-6231C710F86D}" destId="{A0B60079-4AAF-49AC-8F08-8A2DFAEE29DB}" srcOrd="0" destOrd="0" parTransId="{94E190C2-DE76-4E92-9B8B-12C8AC85398D}" sibTransId="{B3783AFC-A7BD-4A0E-8A53-49FBB33EB50F}"/>
    <dgm:cxn modelId="{AC210FB3-093F-448B-ABFC-69E533EF8DEB}" type="presOf" srcId="{A0B60079-4AAF-49AC-8F08-8A2DFAEE29DB}" destId="{C0A30CE6-D937-498A-8D1C-AB49CDB4AE52}" srcOrd="0" destOrd="0" presId="urn:microsoft.com/office/officeart/2016/7/layout/HorizontalActionList"/>
    <dgm:cxn modelId="{FB4E599D-9BED-4AC9-9894-D95D3D1318C2}" type="presOf" srcId="{6E78410F-604C-43A6-A991-1F6A0685C76E}" destId="{910C52EF-D1F5-4581-A150-24B263AF9343}" srcOrd="0" destOrd="0" presId="urn:microsoft.com/office/officeart/2016/7/layout/HorizontalActionList"/>
    <dgm:cxn modelId="{61DE8435-87FC-4ED8-A1D9-A0E36224C192}" srcId="{0DD8915E-DC14-41D6-9BB5-F49E1C265163}" destId="{0A954AA6-C6B0-4271-8792-CCCE30CE7D69}" srcOrd="2" destOrd="0" parTransId="{81CA91A9-12C9-4000-A833-6528B617CCA1}" sibTransId="{7635DF39-FFCE-4F67-A43A-C3F7B847830D}"/>
    <dgm:cxn modelId="{122438FB-0EB1-4DC7-B97A-C5EDE3236321}" srcId="{0A954AA6-C6B0-4271-8792-CCCE30CE7D69}" destId="{838BD54C-88AD-40D7-AF5F-AB65EB0898A5}" srcOrd="0" destOrd="0" parTransId="{FD106F30-FED7-4A4D-9063-A51FC1861B8D}" sibTransId="{C5AC6457-3C00-4583-9061-8DA5017D63FF}"/>
    <dgm:cxn modelId="{F291143C-5080-4FD6-BEEA-B126FBAFEC70}" srcId="{0DD8915E-DC14-41D6-9BB5-F49E1C265163}" destId="{1E1BD5C7-7E98-4E9C-980A-6231C710F86D}" srcOrd="3" destOrd="0" parTransId="{63D0BD99-D324-4743-A063-0F16264E6A03}" sibTransId="{BDC49242-DD3A-494A-A4AF-E750AD6D3DAB}"/>
    <dgm:cxn modelId="{D6AF6FC0-4B56-4246-AC09-69D41F1CFC6B}" srcId="{57B30C7E-2C98-474C-972A-4A9F013596F6}" destId="{B45FF3C1-5A75-4E4C-B2B6-84B0FAC421C2}" srcOrd="0" destOrd="0" parTransId="{34A81C80-FF70-48EA-B442-BDB1EF403754}" sibTransId="{5B9815BA-8A8F-4251-B182-AD39A4FE26DD}"/>
    <dgm:cxn modelId="{9B521646-F790-41D0-809C-EE13035D6030}" type="presOf" srcId="{0A954AA6-C6B0-4271-8792-CCCE30CE7D69}" destId="{6B33ABE5-CEF1-4B39-82C3-F1FC644C0A8F}" srcOrd="0" destOrd="0" presId="urn:microsoft.com/office/officeart/2016/7/layout/HorizontalActionList"/>
    <dgm:cxn modelId="{E6E94786-140A-4645-ACBD-B11A56308E02}" srcId="{CEA68BC1-0214-475A-AAEB-F2C106BEDF3D}" destId="{6E78410F-604C-43A6-A991-1F6A0685C76E}" srcOrd="0" destOrd="0" parTransId="{B87758DC-95B9-415D-8FA2-3A592F03EEB6}" sibTransId="{81ADE71D-3BBC-45B9-8FE7-89C53F21FB8E}"/>
    <dgm:cxn modelId="{72B6F8AD-766A-43BD-910C-3943BDE2D519}" type="presParOf" srcId="{917788B4-4702-452B-A9BF-BD370AC7C91D}" destId="{54C7622E-B3EE-4BFC-B751-4B261C400F01}" srcOrd="0" destOrd="0" presId="urn:microsoft.com/office/officeart/2016/7/layout/HorizontalActionList"/>
    <dgm:cxn modelId="{07A3EC10-71E1-49E5-8DD9-76E1DDFE5EC4}" type="presParOf" srcId="{54C7622E-B3EE-4BFC-B751-4B261C400F01}" destId="{80A1A6DF-0273-4C9F-A1CF-A320F9DB6FD1}" srcOrd="0" destOrd="0" presId="urn:microsoft.com/office/officeart/2016/7/layout/HorizontalActionList"/>
    <dgm:cxn modelId="{63D69304-24E6-4757-9BB9-91CFA9B6AE20}" type="presParOf" srcId="{54C7622E-B3EE-4BFC-B751-4B261C400F01}" destId="{910C52EF-D1F5-4581-A150-24B263AF9343}" srcOrd="1" destOrd="0" presId="urn:microsoft.com/office/officeart/2016/7/layout/HorizontalActionList"/>
    <dgm:cxn modelId="{9A0B0121-2FE9-4ED2-9519-240B87F1B672}" type="presParOf" srcId="{917788B4-4702-452B-A9BF-BD370AC7C91D}" destId="{06DEF15E-2A95-4424-9CA3-93FFF5A22F97}" srcOrd="1" destOrd="0" presId="urn:microsoft.com/office/officeart/2016/7/layout/HorizontalActionList"/>
    <dgm:cxn modelId="{B825BEA6-383F-4CDD-8AD8-ED9FE601134D}" type="presParOf" srcId="{917788B4-4702-452B-A9BF-BD370AC7C91D}" destId="{0D1CB9BF-C612-4FA5-A8ED-CBAA77D93857}" srcOrd="2" destOrd="0" presId="urn:microsoft.com/office/officeart/2016/7/layout/HorizontalActionList"/>
    <dgm:cxn modelId="{81C3AAD3-A7D3-49C0-BD41-FC3C31DF673C}" type="presParOf" srcId="{0D1CB9BF-C612-4FA5-A8ED-CBAA77D93857}" destId="{1F484571-9C36-4EBC-94E8-740ECF59A9E8}" srcOrd="0" destOrd="0" presId="urn:microsoft.com/office/officeart/2016/7/layout/HorizontalActionList"/>
    <dgm:cxn modelId="{1CE4E81E-BB26-4203-B19E-316412C1CA59}" type="presParOf" srcId="{0D1CB9BF-C612-4FA5-A8ED-CBAA77D93857}" destId="{8382FB71-379A-4A42-BEC2-AAF439B565D5}" srcOrd="1" destOrd="0" presId="urn:microsoft.com/office/officeart/2016/7/layout/HorizontalActionList"/>
    <dgm:cxn modelId="{4CD55EBE-BC2B-4CF3-AC80-27C6869764CA}" type="presParOf" srcId="{917788B4-4702-452B-A9BF-BD370AC7C91D}" destId="{CEAD898F-DA15-46A5-A07C-10D30E78B5E8}" srcOrd="3" destOrd="0" presId="urn:microsoft.com/office/officeart/2016/7/layout/HorizontalActionList"/>
    <dgm:cxn modelId="{2DF58259-49C4-495E-AD60-705636704224}" type="presParOf" srcId="{917788B4-4702-452B-A9BF-BD370AC7C91D}" destId="{BEA164EE-1450-4AEB-9527-4E22FBF3C1A8}" srcOrd="4" destOrd="0" presId="urn:microsoft.com/office/officeart/2016/7/layout/HorizontalActionList"/>
    <dgm:cxn modelId="{C8E767FE-8329-4A2C-B37B-302BB823B6B9}" type="presParOf" srcId="{BEA164EE-1450-4AEB-9527-4E22FBF3C1A8}" destId="{6B33ABE5-CEF1-4B39-82C3-F1FC644C0A8F}" srcOrd="0" destOrd="0" presId="urn:microsoft.com/office/officeart/2016/7/layout/HorizontalActionList"/>
    <dgm:cxn modelId="{221A0086-DB21-4BFF-89F7-38344824D54B}" type="presParOf" srcId="{BEA164EE-1450-4AEB-9527-4E22FBF3C1A8}" destId="{D49AD3F7-B2B6-4709-A43B-C22DEB981B39}" srcOrd="1" destOrd="0" presId="urn:microsoft.com/office/officeart/2016/7/layout/HorizontalActionList"/>
    <dgm:cxn modelId="{2AB3BD4B-CE0A-4F23-ACE1-9F2698CB2573}" type="presParOf" srcId="{917788B4-4702-452B-A9BF-BD370AC7C91D}" destId="{C83CA8A9-5873-4873-B14F-2F0E7FB2ABCC}" srcOrd="5" destOrd="0" presId="urn:microsoft.com/office/officeart/2016/7/layout/HorizontalActionList"/>
    <dgm:cxn modelId="{81537145-170B-43D1-A929-BC70155E49D8}" type="presParOf" srcId="{917788B4-4702-452B-A9BF-BD370AC7C91D}" destId="{952DF76F-9AB8-4BB6-B004-372FA36D16E3}" srcOrd="6" destOrd="0" presId="urn:microsoft.com/office/officeart/2016/7/layout/HorizontalActionList"/>
    <dgm:cxn modelId="{FC722F24-E8F7-4116-B683-7E15F562B17E}" type="presParOf" srcId="{952DF76F-9AB8-4BB6-B004-372FA36D16E3}" destId="{4AE355A7-3A54-47B1-8CB5-F35120F77B1B}" srcOrd="0" destOrd="0" presId="urn:microsoft.com/office/officeart/2016/7/layout/HorizontalActionList"/>
    <dgm:cxn modelId="{6328CDA8-ABF8-41F1-88D6-70E510D897B6}" type="presParOf" srcId="{952DF76F-9AB8-4BB6-B004-372FA36D16E3}" destId="{C0A30CE6-D937-498A-8D1C-AB49CDB4AE52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ABF9B4-2BD5-4073-BC9D-7F7042E3CCAA}" type="doc">
      <dgm:prSet loTypeId="urn:microsoft.com/office/officeart/2005/8/layout/vList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3850BEB8-28F3-493B-9A9A-7076BC0E6AC3}">
      <dgm:prSet phldrT="[Text]" custT="1"/>
      <dgm:spPr/>
      <dgm:t>
        <a:bodyPr/>
        <a:lstStyle/>
        <a:p>
          <a:r>
            <a:rPr lang="en-US" sz="4400" b="1" i="1" dirty="0" smtClean="0"/>
            <a:t>Lesson 1: </a:t>
          </a:r>
          <a:r>
            <a:rPr lang="en-US" sz="4400" dirty="0" smtClean="0">
              <a:latin typeface="Candara" panose="020E0502030303020204" pitchFamily="34" charset="0"/>
            </a:rPr>
            <a:t>Focus on a Clearly Defined Market Niche</a:t>
          </a:r>
          <a:endParaRPr lang="en-GB" sz="4400" dirty="0">
            <a:latin typeface="Candara" panose="020E0502030303020204" pitchFamily="34" charset="0"/>
          </a:endParaRPr>
        </a:p>
      </dgm:t>
    </dgm:pt>
    <dgm:pt modelId="{6159CD16-325D-4E0A-A99A-75F690595663}" type="parTrans" cxnId="{875B1350-A2B6-4BAE-8A33-36EF61E6D530}">
      <dgm:prSet/>
      <dgm:spPr/>
      <dgm:t>
        <a:bodyPr/>
        <a:lstStyle/>
        <a:p>
          <a:endParaRPr lang="en-GB" sz="2800"/>
        </a:p>
      </dgm:t>
    </dgm:pt>
    <dgm:pt modelId="{5439CFBD-67B6-416C-BA1F-2347E2121472}" type="sibTrans" cxnId="{875B1350-A2B6-4BAE-8A33-36EF61E6D530}">
      <dgm:prSet/>
      <dgm:spPr/>
      <dgm:t>
        <a:bodyPr/>
        <a:lstStyle/>
        <a:p>
          <a:endParaRPr lang="en-GB" sz="2800"/>
        </a:p>
      </dgm:t>
    </dgm:pt>
    <dgm:pt modelId="{BFE65161-3885-4E51-9137-C03402036D25}">
      <dgm:prSet phldrT="[Text]" custT="1"/>
      <dgm:spPr/>
      <dgm:t>
        <a:bodyPr/>
        <a:lstStyle/>
        <a:p>
          <a:endParaRPr lang="en-GB" sz="3600" dirty="0"/>
        </a:p>
      </dgm:t>
    </dgm:pt>
    <dgm:pt modelId="{D9B718E1-8CB6-4499-97CB-11D861E04D48}" type="parTrans" cxnId="{CA4BDD9E-820D-4DC8-8C8F-3AAF7258CEFD}">
      <dgm:prSet/>
      <dgm:spPr/>
      <dgm:t>
        <a:bodyPr/>
        <a:lstStyle/>
        <a:p>
          <a:endParaRPr lang="en-GB" sz="2800"/>
        </a:p>
      </dgm:t>
    </dgm:pt>
    <dgm:pt modelId="{D2FC8D64-8533-4AAE-8658-D12B3116814A}" type="sibTrans" cxnId="{CA4BDD9E-820D-4DC8-8C8F-3AAF7258CEFD}">
      <dgm:prSet/>
      <dgm:spPr/>
      <dgm:t>
        <a:bodyPr/>
        <a:lstStyle/>
        <a:p>
          <a:endParaRPr lang="en-GB" sz="2800"/>
        </a:p>
      </dgm:t>
    </dgm:pt>
    <dgm:pt modelId="{C1C0A2E1-958F-4B59-86BE-54984D0217DA}">
      <dgm:prSet phldrT="[Text]" custT="1"/>
      <dgm:spPr/>
      <dgm:t>
        <a:bodyPr/>
        <a:lstStyle/>
        <a:p>
          <a:r>
            <a:rPr lang="en-US" sz="4400" b="1" i="1" dirty="0" smtClean="0"/>
            <a:t>Lesson 2: </a:t>
          </a:r>
          <a:r>
            <a:rPr lang="en-US" sz="4400" dirty="0" smtClean="0">
              <a:latin typeface="Candara" panose="020E0502030303020204" pitchFamily="34" charset="0"/>
            </a:rPr>
            <a:t>Integrate Hardware and Software</a:t>
          </a:r>
          <a:endParaRPr lang="en-GB" sz="4400" dirty="0">
            <a:latin typeface="Candara" panose="020E0502030303020204" pitchFamily="34" charset="0"/>
          </a:endParaRPr>
        </a:p>
      </dgm:t>
    </dgm:pt>
    <dgm:pt modelId="{080BBE72-9A76-461B-9297-781B89DBF5C9}" type="parTrans" cxnId="{56740C41-75BD-40E8-AC96-2F477FEE1BFD}">
      <dgm:prSet/>
      <dgm:spPr/>
      <dgm:t>
        <a:bodyPr/>
        <a:lstStyle/>
        <a:p>
          <a:endParaRPr lang="en-GB" sz="2800"/>
        </a:p>
      </dgm:t>
    </dgm:pt>
    <dgm:pt modelId="{A712A9EE-2209-4E76-87F1-999C0F5310BF}" type="sibTrans" cxnId="{56740C41-75BD-40E8-AC96-2F477FEE1BFD}">
      <dgm:prSet/>
      <dgm:spPr/>
      <dgm:t>
        <a:bodyPr/>
        <a:lstStyle/>
        <a:p>
          <a:endParaRPr lang="en-GB" sz="2800"/>
        </a:p>
      </dgm:t>
    </dgm:pt>
    <dgm:pt modelId="{EC2D1DC9-D652-4E55-9812-BFCC84F1AFBE}">
      <dgm:prSet phldrT="[Text]" phldr="1" custT="1"/>
      <dgm:spPr/>
      <dgm:t>
        <a:bodyPr/>
        <a:lstStyle/>
        <a:p>
          <a:endParaRPr lang="en-GB" sz="3600"/>
        </a:p>
      </dgm:t>
    </dgm:pt>
    <dgm:pt modelId="{6ECD0B9B-323B-4C19-9364-2232EA4C0D40}" type="parTrans" cxnId="{4AACC024-DD2F-48DF-97E5-52118695B914}">
      <dgm:prSet/>
      <dgm:spPr/>
      <dgm:t>
        <a:bodyPr/>
        <a:lstStyle/>
        <a:p>
          <a:endParaRPr lang="en-GB" sz="2800"/>
        </a:p>
      </dgm:t>
    </dgm:pt>
    <dgm:pt modelId="{7E0D53E0-316D-4743-A71F-D583E1B05F4E}" type="sibTrans" cxnId="{4AACC024-DD2F-48DF-97E5-52118695B914}">
      <dgm:prSet/>
      <dgm:spPr/>
      <dgm:t>
        <a:bodyPr/>
        <a:lstStyle/>
        <a:p>
          <a:endParaRPr lang="en-GB" sz="2800"/>
        </a:p>
      </dgm:t>
    </dgm:pt>
    <dgm:pt modelId="{EABEAAAB-4D3B-40C1-84EB-720659A86C5A}">
      <dgm:prSet phldrT="[Text]" custT="1"/>
      <dgm:spPr/>
      <dgm:t>
        <a:bodyPr/>
        <a:lstStyle/>
        <a:p>
          <a:r>
            <a:rPr lang="en-US" sz="4400" b="1" i="1" dirty="0" smtClean="0"/>
            <a:t>Lesson 3: </a:t>
          </a:r>
          <a:r>
            <a:rPr lang="en-US" sz="4400" dirty="0" smtClean="0">
              <a:latin typeface="Candara" panose="020E0502030303020204" pitchFamily="34" charset="0"/>
            </a:rPr>
            <a:t>Build Strategic Partnerships</a:t>
          </a:r>
          <a:endParaRPr lang="en-GB" sz="4400" dirty="0">
            <a:latin typeface="Candara" panose="020E0502030303020204" pitchFamily="34" charset="0"/>
          </a:endParaRPr>
        </a:p>
      </dgm:t>
    </dgm:pt>
    <dgm:pt modelId="{9D401995-DE06-4D72-92D5-787BFE501D84}" type="parTrans" cxnId="{222EFEAA-7DFC-4A00-8B01-9251ECEBCD7C}">
      <dgm:prSet/>
      <dgm:spPr/>
      <dgm:t>
        <a:bodyPr/>
        <a:lstStyle/>
        <a:p>
          <a:endParaRPr lang="en-GB" sz="2800"/>
        </a:p>
      </dgm:t>
    </dgm:pt>
    <dgm:pt modelId="{07A76171-929D-4E58-A7A4-4C719F06AD6F}" type="sibTrans" cxnId="{222EFEAA-7DFC-4A00-8B01-9251ECEBCD7C}">
      <dgm:prSet/>
      <dgm:spPr/>
      <dgm:t>
        <a:bodyPr/>
        <a:lstStyle/>
        <a:p>
          <a:endParaRPr lang="en-GB" sz="2800"/>
        </a:p>
      </dgm:t>
    </dgm:pt>
    <dgm:pt modelId="{06737C74-3DA4-49EA-9D52-9B9B45FDE53B}">
      <dgm:prSet phldrT="[Text]" custT="1"/>
      <dgm:spPr/>
      <dgm:t>
        <a:bodyPr/>
        <a:lstStyle/>
        <a:p>
          <a:r>
            <a:rPr lang="en-US" sz="4400" b="1" i="1" dirty="0" smtClean="0"/>
            <a:t>Lesson 4: </a:t>
          </a:r>
          <a:r>
            <a:rPr lang="en-US" sz="4400" dirty="0" smtClean="0">
              <a:latin typeface="Candara" panose="020E0502030303020204" pitchFamily="34" charset="0"/>
            </a:rPr>
            <a:t>Lead with Sustainability and Purpose</a:t>
          </a:r>
          <a:endParaRPr lang="en-GB" sz="4400" dirty="0">
            <a:latin typeface="Candara" panose="020E0502030303020204" pitchFamily="34" charset="0"/>
          </a:endParaRPr>
        </a:p>
      </dgm:t>
    </dgm:pt>
    <dgm:pt modelId="{F514149B-B9F5-4CBF-B2F8-F681704BB2F4}" type="parTrans" cxnId="{AA64C520-2327-4BB1-BEF5-E4533568C339}">
      <dgm:prSet/>
      <dgm:spPr/>
      <dgm:t>
        <a:bodyPr/>
        <a:lstStyle/>
        <a:p>
          <a:endParaRPr lang="en-GB" sz="2800"/>
        </a:p>
      </dgm:t>
    </dgm:pt>
    <dgm:pt modelId="{80B40B3A-EC69-4D92-BF6D-AACD13C39568}" type="sibTrans" cxnId="{AA64C520-2327-4BB1-BEF5-E4533568C339}">
      <dgm:prSet/>
      <dgm:spPr/>
      <dgm:t>
        <a:bodyPr/>
        <a:lstStyle/>
        <a:p>
          <a:endParaRPr lang="en-GB" sz="2800"/>
        </a:p>
      </dgm:t>
    </dgm:pt>
    <dgm:pt modelId="{39C17F74-8F68-46B0-A313-FA6E68CF401A}">
      <dgm:prSet phldrT="[Text]" custT="1"/>
      <dgm:spPr/>
      <dgm:t>
        <a:bodyPr/>
        <a:lstStyle/>
        <a:p>
          <a:r>
            <a:rPr lang="en-US" sz="4400" b="1" i="1" dirty="0" smtClean="0"/>
            <a:t>Lesson 5: </a:t>
          </a:r>
          <a:r>
            <a:rPr lang="en-US" sz="4400" dirty="0" smtClean="0">
              <a:latin typeface="Candara" panose="020E0502030303020204" pitchFamily="34" charset="0"/>
            </a:rPr>
            <a:t>Prioritize Customer Experience and Transparency</a:t>
          </a:r>
          <a:endParaRPr lang="en-GB" sz="4400" dirty="0">
            <a:latin typeface="Candara" panose="020E0502030303020204" pitchFamily="34" charset="0"/>
          </a:endParaRPr>
        </a:p>
      </dgm:t>
    </dgm:pt>
    <dgm:pt modelId="{C4A4339F-91BD-497F-9D0B-85729A5EFAAC}" type="parTrans" cxnId="{3FD045FD-5258-497C-AA5F-275C3CB8558A}">
      <dgm:prSet/>
      <dgm:spPr/>
      <dgm:t>
        <a:bodyPr/>
        <a:lstStyle/>
        <a:p>
          <a:endParaRPr lang="en-GB" sz="2800"/>
        </a:p>
      </dgm:t>
    </dgm:pt>
    <dgm:pt modelId="{49573EB4-6D44-4781-B114-426AD732B134}" type="sibTrans" cxnId="{3FD045FD-5258-497C-AA5F-275C3CB8558A}">
      <dgm:prSet/>
      <dgm:spPr/>
      <dgm:t>
        <a:bodyPr/>
        <a:lstStyle/>
        <a:p>
          <a:endParaRPr lang="en-GB" sz="2800"/>
        </a:p>
      </dgm:t>
    </dgm:pt>
    <dgm:pt modelId="{C7AD4A6B-919B-4D8A-9298-A154AE4310F2}" type="pres">
      <dgm:prSet presAssocID="{7EABF9B4-2BD5-4073-BC9D-7F7042E3CCAA}" presName="linear" presStyleCnt="0">
        <dgm:presLayoutVars>
          <dgm:animLvl val="lvl"/>
          <dgm:resizeHandles val="exact"/>
        </dgm:presLayoutVars>
      </dgm:prSet>
      <dgm:spPr/>
    </dgm:pt>
    <dgm:pt modelId="{D73C4E5A-85B7-434A-A70E-9B72775865DE}" type="pres">
      <dgm:prSet presAssocID="{3850BEB8-28F3-493B-9A9A-7076BC0E6AC3}" presName="parentText" presStyleLbl="node1" presStyleIdx="0" presStyleCnt="5" custLinFactNeighborY="-99853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13F1521-4761-454F-B1E6-E38F88D456E1}" type="pres">
      <dgm:prSet presAssocID="{3850BEB8-28F3-493B-9A9A-7076BC0E6AC3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84ED707-4327-4DF3-ACF3-8DDADF44BC60}" type="pres">
      <dgm:prSet presAssocID="{C1C0A2E1-958F-4B59-86BE-54984D0217DA}" presName="parentText" presStyleLbl="node1" presStyleIdx="1" presStyleCnt="5" custLinFactNeighborY="-89808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8F9473D-1154-41D3-BFD3-EEF844A4CAB1}" type="pres">
      <dgm:prSet presAssocID="{C1C0A2E1-958F-4B59-86BE-54984D0217DA}" presName="childText" presStyleLbl="revTx" presStyleIdx="1" presStyleCnt="2">
        <dgm:presLayoutVars>
          <dgm:bulletEnabled val="1"/>
        </dgm:presLayoutVars>
      </dgm:prSet>
      <dgm:spPr/>
    </dgm:pt>
    <dgm:pt modelId="{604E4CC4-6863-4B09-94EB-71E0C1CF2C9D}" type="pres">
      <dgm:prSet presAssocID="{EABEAAAB-4D3B-40C1-84EB-720659A86C5A}" presName="parentText" presStyleLbl="node1" presStyleIdx="2" presStyleCnt="5" custLinFactY="-2854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F2E51D2-E26F-4CF3-AC89-6E34BFD2B7B9}" type="pres">
      <dgm:prSet presAssocID="{07A76171-929D-4E58-A7A4-4C719F06AD6F}" presName="spacer" presStyleCnt="0"/>
      <dgm:spPr/>
    </dgm:pt>
    <dgm:pt modelId="{36C58DF4-7BF2-4096-969B-7ECACB2D0DAE}" type="pres">
      <dgm:prSet presAssocID="{06737C74-3DA4-49EA-9D52-9B9B45FDE53B}" presName="parentText" presStyleLbl="node1" presStyleIdx="3" presStyleCnt="5" custLinFactY="1056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F6F492F-64AA-4482-A02E-30F55FC8E4D0}" type="pres">
      <dgm:prSet presAssocID="{80B40B3A-EC69-4D92-BF6D-AACD13C39568}" presName="spacer" presStyleCnt="0"/>
      <dgm:spPr/>
    </dgm:pt>
    <dgm:pt modelId="{EB4195D2-B429-42C7-897E-2F27D2C90002}" type="pres">
      <dgm:prSet presAssocID="{39C17F74-8F68-46B0-A313-FA6E68CF401A}" presName="parentText" presStyleLbl="node1" presStyleIdx="4" presStyleCnt="5" custLinFactY="834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222EFEAA-7DFC-4A00-8B01-9251ECEBCD7C}" srcId="{7EABF9B4-2BD5-4073-BC9D-7F7042E3CCAA}" destId="{EABEAAAB-4D3B-40C1-84EB-720659A86C5A}" srcOrd="2" destOrd="0" parTransId="{9D401995-DE06-4D72-92D5-787BFE501D84}" sibTransId="{07A76171-929D-4E58-A7A4-4C719F06AD6F}"/>
    <dgm:cxn modelId="{4AACC024-DD2F-48DF-97E5-52118695B914}" srcId="{C1C0A2E1-958F-4B59-86BE-54984D0217DA}" destId="{EC2D1DC9-D652-4E55-9812-BFCC84F1AFBE}" srcOrd="0" destOrd="0" parTransId="{6ECD0B9B-323B-4C19-9364-2232EA4C0D40}" sibTransId="{7E0D53E0-316D-4743-A71F-D583E1B05F4E}"/>
    <dgm:cxn modelId="{9D4C99EB-563B-4829-8301-978333D80767}" type="presOf" srcId="{7EABF9B4-2BD5-4073-BC9D-7F7042E3CCAA}" destId="{C7AD4A6B-919B-4D8A-9298-A154AE4310F2}" srcOrd="0" destOrd="0" presId="urn:microsoft.com/office/officeart/2005/8/layout/vList2"/>
    <dgm:cxn modelId="{23233CB8-B7F5-419D-82AA-2726FFF0FC4D}" type="presOf" srcId="{BFE65161-3885-4E51-9137-C03402036D25}" destId="{E13F1521-4761-454F-B1E6-E38F88D456E1}" srcOrd="0" destOrd="0" presId="urn:microsoft.com/office/officeart/2005/8/layout/vList2"/>
    <dgm:cxn modelId="{AA64C520-2327-4BB1-BEF5-E4533568C339}" srcId="{7EABF9B4-2BD5-4073-BC9D-7F7042E3CCAA}" destId="{06737C74-3DA4-49EA-9D52-9B9B45FDE53B}" srcOrd="3" destOrd="0" parTransId="{F514149B-B9F5-4CBF-B2F8-F681704BB2F4}" sibTransId="{80B40B3A-EC69-4D92-BF6D-AACD13C39568}"/>
    <dgm:cxn modelId="{3FD045FD-5258-497C-AA5F-275C3CB8558A}" srcId="{7EABF9B4-2BD5-4073-BC9D-7F7042E3CCAA}" destId="{39C17F74-8F68-46B0-A313-FA6E68CF401A}" srcOrd="4" destOrd="0" parTransId="{C4A4339F-91BD-497F-9D0B-85729A5EFAAC}" sibTransId="{49573EB4-6D44-4781-B114-426AD732B134}"/>
    <dgm:cxn modelId="{875B1350-A2B6-4BAE-8A33-36EF61E6D530}" srcId="{7EABF9B4-2BD5-4073-BC9D-7F7042E3CCAA}" destId="{3850BEB8-28F3-493B-9A9A-7076BC0E6AC3}" srcOrd="0" destOrd="0" parTransId="{6159CD16-325D-4E0A-A99A-75F690595663}" sibTransId="{5439CFBD-67B6-416C-BA1F-2347E2121472}"/>
    <dgm:cxn modelId="{99589B26-6DC2-430E-9B76-78D304DE59E3}" type="presOf" srcId="{EC2D1DC9-D652-4E55-9812-BFCC84F1AFBE}" destId="{88F9473D-1154-41D3-BFD3-EEF844A4CAB1}" srcOrd="0" destOrd="0" presId="urn:microsoft.com/office/officeart/2005/8/layout/vList2"/>
    <dgm:cxn modelId="{5B3F39B1-94C3-402F-8C09-74B5F5DDC23B}" type="presOf" srcId="{39C17F74-8F68-46B0-A313-FA6E68CF401A}" destId="{EB4195D2-B429-42C7-897E-2F27D2C90002}" srcOrd="0" destOrd="0" presId="urn:microsoft.com/office/officeart/2005/8/layout/vList2"/>
    <dgm:cxn modelId="{5D645567-86DB-4D26-880A-12FFB6A55D6F}" type="presOf" srcId="{EABEAAAB-4D3B-40C1-84EB-720659A86C5A}" destId="{604E4CC4-6863-4B09-94EB-71E0C1CF2C9D}" srcOrd="0" destOrd="0" presId="urn:microsoft.com/office/officeart/2005/8/layout/vList2"/>
    <dgm:cxn modelId="{3AEB53BD-C287-4C3B-9451-B3F1BC658311}" type="presOf" srcId="{3850BEB8-28F3-493B-9A9A-7076BC0E6AC3}" destId="{D73C4E5A-85B7-434A-A70E-9B72775865DE}" srcOrd="0" destOrd="0" presId="urn:microsoft.com/office/officeart/2005/8/layout/vList2"/>
    <dgm:cxn modelId="{5EB61BEC-FF6E-421F-BABC-C86EBFA44562}" type="presOf" srcId="{06737C74-3DA4-49EA-9D52-9B9B45FDE53B}" destId="{36C58DF4-7BF2-4096-969B-7ECACB2D0DAE}" srcOrd="0" destOrd="0" presId="urn:microsoft.com/office/officeart/2005/8/layout/vList2"/>
    <dgm:cxn modelId="{56740C41-75BD-40E8-AC96-2F477FEE1BFD}" srcId="{7EABF9B4-2BD5-4073-BC9D-7F7042E3CCAA}" destId="{C1C0A2E1-958F-4B59-86BE-54984D0217DA}" srcOrd="1" destOrd="0" parTransId="{080BBE72-9A76-461B-9297-781B89DBF5C9}" sibTransId="{A712A9EE-2209-4E76-87F1-999C0F5310BF}"/>
    <dgm:cxn modelId="{FCB03AD6-D41F-4D41-A189-B2DEAE594084}" type="presOf" srcId="{C1C0A2E1-958F-4B59-86BE-54984D0217DA}" destId="{384ED707-4327-4DF3-ACF3-8DDADF44BC60}" srcOrd="0" destOrd="0" presId="urn:microsoft.com/office/officeart/2005/8/layout/vList2"/>
    <dgm:cxn modelId="{CA4BDD9E-820D-4DC8-8C8F-3AAF7258CEFD}" srcId="{3850BEB8-28F3-493B-9A9A-7076BC0E6AC3}" destId="{BFE65161-3885-4E51-9137-C03402036D25}" srcOrd="0" destOrd="0" parTransId="{D9B718E1-8CB6-4499-97CB-11D861E04D48}" sibTransId="{D2FC8D64-8533-4AAE-8658-D12B3116814A}"/>
    <dgm:cxn modelId="{BDA44D98-8F81-45F9-954C-A7E3DBCD05C9}" type="presParOf" srcId="{C7AD4A6B-919B-4D8A-9298-A154AE4310F2}" destId="{D73C4E5A-85B7-434A-A70E-9B72775865DE}" srcOrd="0" destOrd="0" presId="urn:microsoft.com/office/officeart/2005/8/layout/vList2"/>
    <dgm:cxn modelId="{A02E3AA7-9935-4D06-BF59-161F4A5057C0}" type="presParOf" srcId="{C7AD4A6B-919B-4D8A-9298-A154AE4310F2}" destId="{E13F1521-4761-454F-B1E6-E38F88D456E1}" srcOrd="1" destOrd="0" presId="urn:microsoft.com/office/officeart/2005/8/layout/vList2"/>
    <dgm:cxn modelId="{A293FF02-E061-4714-9B25-59BF2B2493AC}" type="presParOf" srcId="{C7AD4A6B-919B-4D8A-9298-A154AE4310F2}" destId="{384ED707-4327-4DF3-ACF3-8DDADF44BC60}" srcOrd="2" destOrd="0" presId="urn:microsoft.com/office/officeart/2005/8/layout/vList2"/>
    <dgm:cxn modelId="{FBF80D10-ABC9-49E7-89D7-82A209E19A22}" type="presParOf" srcId="{C7AD4A6B-919B-4D8A-9298-A154AE4310F2}" destId="{88F9473D-1154-41D3-BFD3-EEF844A4CAB1}" srcOrd="3" destOrd="0" presId="urn:microsoft.com/office/officeart/2005/8/layout/vList2"/>
    <dgm:cxn modelId="{7702A608-8697-4E6A-9DFA-752314488914}" type="presParOf" srcId="{C7AD4A6B-919B-4D8A-9298-A154AE4310F2}" destId="{604E4CC4-6863-4B09-94EB-71E0C1CF2C9D}" srcOrd="4" destOrd="0" presId="urn:microsoft.com/office/officeart/2005/8/layout/vList2"/>
    <dgm:cxn modelId="{A495FA92-686C-43C2-A0EB-FA66B931DB77}" type="presParOf" srcId="{C7AD4A6B-919B-4D8A-9298-A154AE4310F2}" destId="{2F2E51D2-E26F-4CF3-AC89-6E34BFD2B7B9}" srcOrd="5" destOrd="0" presId="urn:microsoft.com/office/officeart/2005/8/layout/vList2"/>
    <dgm:cxn modelId="{8A831FA4-0703-4588-BB1A-1B35BE7230EF}" type="presParOf" srcId="{C7AD4A6B-919B-4D8A-9298-A154AE4310F2}" destId="{36C58DF4-7BF2-4096-969B-7ECACB2D0DAE}" srcOrd="6" destOrd="0" presId="urn:microsoft.com/office/officeart/2005/8/layout/vList2"/>
    <dgm:cxn modelId="{EC50B08D-23FE-4666-AAAA-24463154DCDD}" type="presParOf" srcId="{C7AD4A6B-919B-4D8A-9298-A154AE4310F2}" destId="{7F6F492F-64AA-4482-A02E-30F55FC8E4D0}" srcOrd="7" destOrd="0" presId="urn:microsoft.com/office/officeart/2005/8/layout/vList2"/>
    <dgm:cxn modelId="{C65A3A93-0469-478F-B82C-F99F340B9ED5}" type="presParOf" srcId="{C7AD4A6B-919B-4D8A-9298-A154AE4310F2}" destId="{EB4195D2-B429-42C7-897E-2F27D2C9000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1A6DF-0273-4C9F-A1CF-A320F9DB6FD1}">
      <dsp:nvSpPr>
        <dsp:cNvPr id="0" name=""/>
        <dsp:cNvSpPr/>
      </dsp:nvSpPr>
      <dsp:spPr>
        <a:xfrm>
          <a:off x="20296" y="1101782"/>
          <a:ext cx="3642810" cy="10928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3" tIns="287863" rIns="287863" bIns="287863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600" b="1" kern="1200" dirty="0" smtClean="0">
              <a:latin typeface="+mj-lt"/>
              <a:cs typeface="Calibri" charset="0"/>
            </a:rPr>
            <a:t>Unique Market Focus</a:t>
          </a:r>
          <a:endParaRPr lang="en-US" sz="3600" b="1" kern="1200" dirty="0">
            <a:latin typeface="+mj-lt"/>
          </a:endParaRPr>
        </a:p>
      </dsp:txBody>
      <dsp:txXfrm>
        <a:off x="20296" y="1101782"/>
        <a:ext cx="3642810" cy="1092843"/>
      </dsp:txXfrm>
    </dsp:sp>
    <dsp:sp modelId="{910C52EF-D1F5-4581-A150-24B263AF9343}">
      <dsp:nvSpPr>
        <dsp:cNvPr id="0" name=""/>
        <dsp:cNvSpPr/>
      </dsp:nvSpPr>
      <dsp:spPr>
        <a:xfrm>
          <a:off x="20296" y="2194625"/>
          <a:ext cx="3642810" cy="3409191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 smtClean="0">
              <a:solidFill>
                <a:schemeClr val="tx1"/>
              </a:solidFill>
              <a:latin typeface="Candara" panose="020E0502030303020204" pitchFamily="34" charset="0"/>
            </a:rPr>
            <a:t>Targeting the adventure EV market (trucks and SUVs for outdoor enthusiasts) rather than luxury sedans.</a:t>
          </a:r>
          <a:endParaRPr lang="en-US" sz="2800" kern="1200" dirty="0">
            <a:solidFill>
              <a:schemeClr val="tx1"/>
            </a:solidFill>
            <a:latin typeface="Candara" panose="020E0502030303020204" pitchFamily="34" charset="0"/>
            <a:ea typeface="Calibri" charset="0"/>
            <a:cs typeface="Calibri" charset="0"/>
          </a:endParaRPr>
        </a:p>
      </dsp:txBody>
      <dsp:txXfrm>
        <a:off x="20296" y="2194625"/>
        <a:ext cx="3642810" cy="3409191"/>
      </dsp:txXfrm>
    </dsp:sp>
    <dsp:sp modelId="{1F484571-9C36-4EBC-94E8-740ECF59A9E8}">
      <dsp:nvSpPr>
        <dsp:cNvPr id="0" name=""/>
        <dsp:cNvSpPr/>
      </dsp:nvSpPr>
      <dsp:spPr>
        <a:xfrm>
          <a:off x="3770895" y="1101782"/>
          <a:ext cx="3642810" cy="10928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3" tIns="287863" rIns="287863" bIns="287863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600" b="1" kern="1200" dirty="0" smtClean="0">
              <a:latin typeface="+mj-lt"/>
              <a:cs typeface="Calibri" charset="0"/>
            </a:rPr>
            <a:t>Software and IT Integration</a:t>
          </a:r>
          <a:endParaRPr lang="en-US" sz="3600" b="1" kern="1200" dirty="0">
            <a:latin typeface="+mj-lt"/>
            <a:cs typeface="Calibri" charset="0"/>
          </a:endParaRPr>
        </a:p>
      </dsp:txBody>
      <dsp:txXfrm>
        <a:off x="3770895" y="1101782"/>
        <a:ext cx="3642810" cy="1092843"/>
      </dsp:txXfrm>
    </dsp:sp>
    <dsp:sp modelId="{8382FB71-379A-4A42-BEC2-AAF439B565D5}">
      <dsp:nvSpPr>
        <dsp:cNvPr id="0" name=""/>
        <dsp:cNvSpPr/>
      </dsp:nvSpPr>
      <dsp:spPr>
        <a:xfrm>
          <a:off x="3770895" y="2194625"/>
          <a:ext cx="3642810" cy="3409191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 smtClean="0">
              <a:solidFill>
                <a:schemeClr val="tx1"/>
              </a:solidFill>
              <a:latin typeface="Candara" panose="020E0502030303020204" pitchFamily="34" charset="0"/>
            </a:rPr>
            <a:t>Rivian designs software-defined vehicles to enable over-the-air updates, real-time data analytics, and cloud-based diagnostics</a:t>
          </a:r>
          <a:r>
            <a:rPr lang="en-US" sz="2800" b="0" i="0" kern="1200" dirty="0" smtClean="0"/>
            <a:t>.</a:t>
          </a:r>
          <a:endParaRPr lang="en-US" sz="2800" kern="1200" dirty="0">
            <a:latin typeface="Calibri" charset="0"/>
            <a:ea typeface="Calibri" charset="0"/>
            <a:cs typeface="Calibri" charset="0"/>
          </a:endParaRPr>
        </a:p>
      </dsp:txBody>
      <dsp:txXfrm>
        <a:off x="3770895" y="2194625"/>
        <a:ext cx="3642810" cy="3409191"/>
      </dsp:txXfrm>
    </dsp:sp>
    <dsp:sp modelId="{6B33ABE5-CEF1-4B39-82C3-F1FC644C0A8F}">
      <dsp:nvSpPr>
        <dsp:cNvPr id="0" name=""/>
        <dsp:cNvSpPr/>
      </dsp:nvSpPr>
      <dsp:spPr>
        <a:xfrm>
          <a:off x="7521494" y="1101782"/>
          <a:ext cx="3642810" cy="10928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3" tIns="287863" rIns="287863" bIns="287863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600" b="1" kern="1200" dirty="0" smtClean="0">
              <a:latin typeface="+mj-lt"/>
              <a:cs typeface="Calibri" charset="0"/>
            </a:rPr>
            <a:t>Strategic Partnerships</a:t>
          </a:r>
          <a:endParaRPr lang="en-US" sz="3600" b="1" kern="1200" dirty="0">
            <a:latin typeface="+mj-lt"/>
            <a:cs typeface="Calibri" charset="0"/>
          </a:endParaRPr>
        </a:p>
      </dsp:txBody>
      <dsp:txXfrm>
        <a:off x="7521494" y="1101782"/>
        <a:ext cx="3642810" cy="1092843"/>
      </dsp:txXfrm>
    </dsp:sp>
    <dsp:sp modelId="{D49AD3F7-B2B6-4709-A43B-C22DEB981B39}">
      <dsp:nvSpPr>
        <dsp:cNvPr id="0" name=""/>
        <dsp:cNvSpPr/>
      </dsp:nvSpPr>
      <dsp:spPr>
        <a:xfrm>
          <a:off x="7521494" y="2194625"/>
          <a:ext cx="3642810" cy="3409191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 smtClean="0">
              <a:solidFill>
                <a:schemeClr val="tx1"/>
              </a:solidFill>
              <a:latin typeface="Candara" panose="020E0502030303020204" pitchFamily="34" charset="0"/>
            </a:rPr>
            <a:t>Amazon and Ford invested heavily early which ensured </a:t>
          </a:r>
          <a:r>
            <a:rPr lang="en-GB" sz="2800" b="0" i="0" kern="1200" dirty="0" smtClean="0">
              <a:solidFill>
                <a:schemeClr val="tx1"/>
              </a:solidFill>
              <a:latin typeface="Candara" panose="020E0502030303020204" pitchFamily="34" charset="0"/>
            </a:rPr>
            <a:t>credibility and financial strength</a:t>
          </a:r>
          <a:r>
            <a:rPr lang="en-GB" sz="2800" b="0" i="0" kern="1200" dirty="0" smtClean="0"/>
            <a:t>.</a:t>
          </a:r>
          <a:endParaRPr lang="en-US" sz="2800" b="0" i="0" kern="1200" dirty="0"/>
        </a:p>
      </dsp:txBody>
      <dsp:txXfrm>
        <a:off x="7521494" y="2194625"/>
        <a:ext cx="3642810" cy="3409191"/>
      </dsp:txXfrm>
    </dsp:sp>
    <dsp:sp modelId="{4AE355A7-3A54-47B1-8CB5-F35120F77B1B}">
      <dsp:nvSpPr>
        <dsp:cNvPr id="0" name=""/>
        <dsp:cNvSpPr/>
      </dsp:nvSpPr>
      <dsp:spPr>
        <a:xfrm>
          <a:off x="11272093" y="1101782"/>
          <a:ext cx="3642810" cy="10928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3" tIns="287863" rIns="287863" bIns="287863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600" b="1" kern="1200" dirty="0" smtClean="0">
              <a:latin typeface="+mj-lt"/>
              <a:cs typeface="Calibri" charset="0"/>
            </a:rPr>
            <a:t>Community and Experience</a:t>
          </a:r>
          <a:endParaRPr lang="en-US" sz="3600" b="1" kern="1200" dirty="0">
            <a:latin typeface="+mj-lt"/>
            <a:cs typeface="Calibri" charset="0"/>
          </a:endParaRPr>
        </a:p>
      </dsp:txBody>
      <dsp:txXfrm>
        <a:off x="11272093" y="1101782"/>
        <a:ext cx="3642810" cy="1092843"/>
      </dsp:txXfrm>
    </dsp:sp>
    <dsp:sp modelId="{C0A30CE6-D937-498A-8D1C-AB49CDB4AE52}">
      <dsp:nvSpPr>
        <dsp:cNvPr id="0" name=""/>
        <dsp:cNvSpPr/>
      </dsp:nvSpPr>
      <dsp:spPr>
        <a:xfrm>
          <a:off x="11272093" y="2194625"/>
          <a:ext cx="3642810" cy="3409191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 smtClean="0">
              <a:solidFill>
                <a:schemeClr val="tx1"/>
              </a:solidFill>
              <a:latin typeface="Candara" panose="020E0502030303020204" pitchFamily="34" charset="0"/>
            </a:rPr>
            <a:t>Created a loyal user community by aligning the brand with exploration and environmental values.</a:t>
          </a:r>
          <a:endParaRPr lang="en-US" sz="2800" b="0" i="0" kern="1200" dirty="0">
            <a:solidFill>
              <a:schemeClr val="tx1"/>
            </a:solidFill>
            <a:latin typeface="Candara" panose="020E0502030303020204" pitchFamily="34" charset="0"/>
          </a:endParaRPr>
        </a:p>
      </dsp:txBody>
      <dsp:txXfrm>
        <a:off x="11272093" y="2194625"/>
        <a:ext cx="3642810" cy="34091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3C4E5A-85B7-434A-A70E-9B72775865DE}">
      <dsp:nvSpPr>
        <dsp:cNvPr id="0" name=""/>
        <dsp:cNvSpPr/>
      </dsp:nvSpPr>
      <dsp:spPr>
        <a:xfrm>
          <a:off x="0" y="19534"/>
          <a:ext cx="14309726" cy="1051971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i="1" kern="1200" dirty="0" smtClean="0"/>
            <a:t>Lesson 1: </a:t>
          </a:r>
          <a:r>
            <a:rPr lang="en-US" sz="4400" kern="1200" dirty="0" smtClean="0">
              <a:latin typeface="Candara" panose="020E0502030303020204" pitchFamily="34" charset="0"/>
            </a:rPr>
            <a:t>Focus on a Clearly Defined Market Niche</a:t>
          </a:r>
          <a:endParaRPr lang="en-GB" sz="4400" kern="1200" dirty="0">
            <a:latin typeface="Candara" panose="020E0502030303020204" pitchFamily="34" charset="0"/>
          </a:endParaRPr>
        </a:p>
      </dsp:txBody>
      <dsp:txXfrm>
        <a:off x="51353" y="70887"/>
        <a:ext cx="14207020" cy="949265"/>
      </dsp:txXfrm>
    </dsp:sp>
    <dsp:sp modelId="{E13F1521-4761-454F-B1E6-E38F88D456E1}">
      <dsp:nvSpPr>
        <dsp:cNvPr id="0" name=""/>
        <dsp:cNvSpPr/>
      </dsp:nvSpPr>
      <dsp:spPr>
        <a:xfrm>
          <a:off x="0" y="1154103"/>
          <a:ext cx="14309726" cy="82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4334" tIns="45720" rIns="256032" bIns="457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GB" sz="3600" kern="1200" dirty="0"/>
        </a:p>
      </dsp:txBody>
      <dsp:txXfrm>
        <a:off x="0" y="1154103"/>
        <a:ext cx="14309726" cy="82719"/>
      </dsp:txXfrm>
    </dsp:sp>
    <dsp:sp modelId="{384ED707-4327-4DF3-ACF3-8DDADF44BC60}">
      <dsp:nvSpPr>
        <dsp:cNvPr id="0" name=""/>
        <dsp:cNvSpPr/>
      </dsp:nvSpPr>
      <dsp:spPr>
        <a:xfrm>
          <a:off x="0" y="1162534"/>
          <a:ext cx="14309726" cy="1051971"/>
        </a:xfrm>
        <a:prstGeom prst="roundRect">
          <a:avLst/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i="1" kern="1200" dirty="0" smtClean="0"/>
            <a:t>Lesson 2: </a:t>
          </a:r>
          <a:r>
            <a:rPr lang="en-US" sz="4400" kern="1200" dirty="0" smtClean="0">
              <a:latin typeface="Candara" panose="020E0502030303020204" pitchFamily="34" charset="0"/>
            </a:rPr>
            <a:t>Integrate Hardware and Software</a:t>
          </a:r>
          <a:endParaRPr lang="en-GB" sz="4400" kern="1200" dirty="0">
            <a:latin typeface="Candara" panose="020E0502030303020204" pitchFamily="34" charset="0"/>
          </a:endParaRPr>
        </a:p>
      </dsp:txBody>
      <dsp:txXfrm>
        <a:off x="51353" y="1213887"/>
        <a:ext cx="14207020" cy="949265"/>
      </dsp:txXfrm>
    </dsp:sp>
    <dsp:sp modelId="{88F9473D-1154-41D3-BFD3-EEF844A4CAB1}">
      <dsp:nvSpPr>
        <dsp:cNvPr id="0" name=""/>
        <dsp:cNvSpPr/>
      </dsp:nvSpPr>
      <dsp:spPr>
        <a:xfrm>
          <a:off x="0" y="2288794"/>
          <a:ext cx="14309726" cy="82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4334" tIns="45720" rIns="256032" bIns="457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GB" sz="3600" kern="1200"/>
        </a:p>
      </dsp:txBody>
      <dsp:txXfrm>
        <a:off x="0" y="2288794"/>
        <a:ext cx="14309726" cy="82719"/>
      </dsp:txXfrm>
    </dsp:sp>
    <dsp:sp modelId="{604E4CC4-6863-4B09-94EB-71E0C1CF2C9D}">
      <dsp:nvSpPr>
        <dsp:cNvPr id="0" name=""/>
        <dsp:cNvSpPr/>
      </dsp:nvSpPr>
      <dsp:spPr>
        <a:xfrm>
          <a:off x="0" y="2327104"/>
          <a:ext cx="14309726" cy="1051971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i="1" kern="1200" dirty="0" smtClean="0"/>
            <a:t>Lesson 3: </a:t>
          </a:r>
          <a:r>
            <a:rPr lang="en-US" sz="4400" kern="1200" dirty="0" smtClean="0">
              <a:latin typeface="Candara" panose="020E0502030303020204" pitchFamily="34" charset="0"/>
            </a:rPr>
            <a:t>Build Strategic Partnerships</a:t>
          </a:r>
          <a:endParaRPr lang="en-GB" sz="4400" kern="1200" dirty="0">
            <a:latin typeface="Candara" panose="020E0502030303020204" pitchFamily="34" charset="0"/>
          </a:endParaRPr>
        </a:p>
      </dsp:txBody>
      <dsp:txXfrm>
        <a:off x="51353" y="2378457"/>
        <a:ext cx="14207020" cy="949265"/>
      </dsp:txXfrm>
    </dsp:sp>
    <dsp:sp modelId="{36C58DF4-7BF2-4096-969B-7ECACB2D0DAE}">
      <dsp:nvSpPr>
        <dsp:cNvPr id="0" name=""/>
        <dsp:cNvSpPr/>
      </dsp:nvSpPr>
      <dsp:spPr>
        <a:xfrm>
          <a:off x="0" y="3463366"/>
          <a:ext cx="14309726" cy="1051971"/>
        </a:xfrm>
        <a:prstGeom prst="roundRect">
          <a:avLst/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i="1" kern="1200" dirty="0" smtClean="0"/>
            <a:t>Lesson 4: </a:t>
          </a:r>
          <a:r>
            <a:rPr lang="en-US" sz="4400" kern="1200" dirty="0" smtClean="0">
              <a:latin typeface="Candara" panose="020E0502030303020204" pitchFamily="34" charset="0"/>
            </a:rPr>
            <a:t>Lead with Sustainability and Purpose</a:t>
          </a:r>
          <a:endParaRPr lang="en-GB" sz="4400" kern="1200" dirty="0">
            <a:latin typeface="Candara" panose="020E0502030303020204" pitchFamily="34" charset="0"/>
          </a:endParaRPr>
        </a:p>
      </dsp:txBody>
      <dsp:txXfrm>
        <a:off x="51353" y="3514719"/>
        <a:ext cx="14207020" cy="949265"/>
      </dsp:txXfrm>
    </dsp:sp>
    <dsp:sp modelId="{EB4195D2-B429-42C7-897E-2F27D2C90002}">
      <dsp:nvSpPr>
        <dsp:cNvPr id="0" name=""/>
        <dsp:cNvSpPr/>
      </dsp:nvSpPr>
      <dsp:spPr>
        <a:xfrm>
          <a:off x="0" y="4606359"/>
          <a:ext cx="14309726" cy="1051971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i="1" kern="1200" dirty="0" smtClean="0"/>
            <a:t>Lesson 5: </a:t>
          </a:r>
          <a:r>
            <a:rPr lang="en-US" sz="4400" kern="1200" dirty="0" smtClean="0">
              <a:latin typeface="Candara" panose="020E0502030303020204" pitchFamily="34" charset="0"/>
            </a:rPr>
            <a:t>Prioritize Customer Experience and Transparency</a:t>
          </a:r>
          <a:endParaRPr lang="en-GB" sz="4400" kern="1200" dirty="0">
            <a:latin typeface="Candara" panose="020E0502030303020204" pitchFamily="34" charset="0"/>
          </a:endParaRPr>
        </a:p>
      </dsp:txBody>
      <dsp:txXfrm>
        <a:off x="51353" y="4657712"/>
        <a:ext cx="14207020" cy="949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C3FDF-CC39-4693-9B10-482A036EDA76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CB076-6D1E-4846-A39C-2CF924B5F8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22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B076-6D1E-4846-A39C-2CF924B5F89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3619499" y="1560596"/>
            <a:ext cx="11049000" cy="4347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sz="115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Times New Roman" panose="02020603050405020304" pitchFamily="18" charset="0"/>
                <a:sym typeface="Glacial Indifference Bold"/>
              </a:rPr>
              <a:t>Lessons </a:t>
            </a:r>
            <a:r>
              <a:rPr lang="en-US" sz="11500" b="1" dirty="0" smtClean="0">
                <a:solidFill>
                  <a:srgbClr val="FFFFFF"/>
                </a:solidFill>
                <a:latin typeface="Glacial Indifference Bold"/>
                <a:ea typeface="Glacial Indifference Bold"/>
                <a:cs typeface="Times New Roman" panose="02020603050405020304" pitchFamily="18" charset="0"/>
                <a:sym typeface="Glacial Indifference Bold"/>
              </a:rPr>
              <a:t>from Successful IT Startups</a:t>
            </a:r>
            <a:endParaRPr lang="en-US" sz="11500" b="1" dirty="0">
              <a:solidFill>
                <a:srgbClr val="FFFFFF"/>
              </a:solidFill>
              <a:latin typeface="Glacial Indifference Bold"/>
              <a:ea typeface="Glacial Indifference Bold"/>
              <a:cs typeface="Times New Roman" panose="02020603050405020304" pitchFamily="18" charset="0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16061" y="7468536"/>
            <a:ext cx="4855878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i="1" dirty="0">
                <a:solidFill>
                  <a:srgbClr val="FFFFFF"/>
                </a:solidFill>
                <a:latin typeface="HK Grotesk Italics"/>
                <a:ea typeface="HK Grotesk Italics"/>
                <a:cs typeface="Times New Roman" panose="02020603050405020304" pitchFamily="18" charset="0"/>
                <a:sym typeface="HK Grotesk Italics"/>
              </a:rPr>
              <a:t>A PRESENTATION BY:</a:t>
            </a:r>
          </a:p>
          <a:p>
            <a:pPr algn="ctr">
              <a:lnSpc>
                <a:spcPts val="4200"/>
              </a:lnSpc>
            </a:pPr>
            <a:r>
              <a:rPr lang="en-US" sz="2000" i="1" dirty="0">
                <a:solidFill>
                  <a:srgbClr val="FFFFFF"/>
                </a:solidFill>
                <a:latin typeface="HK Grotesk Italics"/>
                <a:ea typeface="HK Grotesk Italics"/>
                <a:cs typeface="Times New Roman" panose="02020603050405020304" pitchFamily="18" charset="0"/>
                <a:sym typeface="HK Grotesk Italics"/>
              </a:rPr>
              <a:t>Muhammad Ali Shabir</a:t>
            </a:r>
            <a:br>
              <a:rPr lang="en-US" sz="2000" i="1" dirty="0">
                <a:solidFill>
                  <a:srgbClr val="FFFFFF"/>
                </a:solidFill>
                <a:latin typeface="HK Grotesk Italics"/>
                <a:ea typeface="HK Grotesk Italics"/>
                <a:cs typeface="Times New Roman" panose="02020603050405020304" pitchFamily="18" charset="0"/>
                <a:sym typeface="HK Grotesk Italics"/>
              </a:rPr>
            </a:br>
            <a:r>
              <a:rPr lang="en-US" sz="2000" i="1" dirty="0" smtClean="0">
                <a:solidFill>
                  <a:srgbClr val="FFFFFF"/>
                </a:solidFill>
                <a:latin typeface="HK Grotesk Italics"/>
                <a:ea typeface="HK Grotesk Italics"/>
                <a:cs typeface="Times New Roman" panose="02020603050405020304" pitchFamily="18" charset="0"/>
                <a:sym typeface="HK Grotesk Italics"/>
              </a:rPr>
              <a:t>Asjal Abdullah</a:t>
            </a:r>
            <a:r>
              <a:rPr lang="en-US" sz="2000" i="1" dirty="0">
                <a:solidFill>
                  <a:srgbClr val="FFFFFF"/>
                </a:solidFill>
                <a:latin typeface="HK Grotesk Italics"/>
                <a:ea typeface="HK Grotesk Italics"/>
                <a:cs typeface="Times New Roman" panose="02020603050405020304" pitchFamily="18" charset="0"/>
                <a:sym typeface="HK Grotesk Italics"/>
              </a:rPr>
              <a:t/>
            </a:r>
            <a:br>
              <a:rPr lang="en-US" sz="2000" i="1" dirty="0">
                <a:solidFill>
                  <a:srgbClr val="FFFFFF"/>
                </a:solidFill>
                <a:latin typeface="HK Grotesk Italics"/>
                <a:ea typeface="HK Grotesk Italics"/>
                <a:cs typeface="Times New Roman" panose="02020603050405020304" pitchFamily="18" charset="0"/>
                <a:sym typeface="HK Grotesk Italics"/>
              </a:rPr>
            </a:br>
            <a:r>
              <a:rPr lang="en-US" sz="2000" i="1" dirty="0" smtClean="0">
                <a:solidFill>
                  <a:srgbClr val="FFFFFF"/>
                </a:solidFill>
                <a:latin typeface="HK Grotesk Italics"/>
                <a:ea typeface="HK Grotesk Italics"/>
                <a:cs typeface="Times New Roman" panose="02020603050405020304" pitchFamily="18" charset="0"/>
                <a:sym typeface="HK Grotesk Italics"/>
              </a:rPr>
              <a:t>Ali Nasir</a:t>
            </a:r>
            <a:endParaRPr lang="en-US" sz="2000" i="1" dirty="0">
              <a:solidFill>
                <a:srgbClr val="FFFFFF"/>
              </a:solidFill>
              <a:latin typeface="HK Grotesk Italics"/>
              <a:ea typeface="HK Grotesk Italics"/>
              <a:cs typeface="Times New Roman" panose="02020603050405020304" pitchFamily="18" charset="0"/>
              <a:sym typeface="HK Grotesk Itali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29666" y="6140923"/>
            <a:ext cx="4028667" cy="1333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sz="48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Times New Roman" panose="02020603050405020304" pitchFamily="18" charset="0"/>
                <a:sym typeface="Glacial Indifference Bold"/>
              </a:rPr>
              <a:t>Assignment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970394" y="1334273"/>
            <a:ext cx="836304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39"/>
              </a:lnSpc>
            </a:pPr>
            <a:r>
              <a:rPr lang="en-US" sz="7114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Rivian Automotive</a:t>
            </a:r>
            <a:endParaRPr lang="en-US" sz="7114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3733" y="3369958"/>
            <a:ext cx="8132649" cy="5783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47"/>
              </a:lnSpc>
            </a:pPr>
            <a:r>
              <a:rPr lang="en-US" sz="2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Rivian Automotive, founded in 2009 by RJ </a:t>
            </a:r>
            <a:r>
              <a:rPr lang="en-US" sz="2800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Scaringe</a:t>
            </a:r>
            <a:r>
              <a:rPr lang="en-US" sz="2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is an electric vehicle innovator known for developing adventure-oriented EVs like the R1T and R1S. </a:t>
            </a:r>
            <a:endParaRPr lang="en-US" sz="2800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>
              <a:lnSpc>
                <a:spcPts val="4147"/>
              </a:lnSpc>
            </a:pPr>
            <a:endParaRPr lang="en-US" sz="2800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>
              <a:lnSpc>
                <a:spcPts val="4147"/>
              </a:lnSpc>
            </a:pPr>
            <a:r>
              <a:rPr lang="en-US" sz="2800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With </a:t>
            </a:r>
            <a:r>
              <a:rPr lang="en-US" sz="2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</a:t>
            </a:r>
            <a:r>
              <a:rPr lang="en-US" sz="28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strong integration of software, sustainability values, and unique market positioning</a:t>
            </a:r>
            <a:r>
              <a:rPr lang="en-US" sz="2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Rivian differentiates itself from traditional EV manufacturers. </a:t>
            </a:r>
            <a:endParaRPr lang="en-US" sz="2800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>
              <a:lnSpc>
                <a:spcPts val="4147"/>
              </a:lnSpc>
            </a:pPr>
            <a:endParaRPr lang="en-US" sz="2800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>
              <a:lnSpc>
                <a:spcPts val="4147"/>
              </a:lnSpc>
            </a:pPr>
            <a:r>
              <a:rPr lang="en-US" sz="2800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Its </a:t>
            </a:r>
            <a:r>
              <a:rPr lang="en-US" sz="2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mission centers on </a:t>
            </a:r>
            <a:r>
              <a:rPr lang="en-US" sz="28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combining outdoor exploration with clean, smart </a:t>
            </a:r>
            <a:r>
              <a:rPr lang="en-US" sz="28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mobility.</a:t>
            </a:r>
            <a:endParaRPr lang="en-US" sz="2800" b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944760" y="509144"/>
            <a:ext cx="83630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39"/>
              </a:lnSpc>
            </a:pPr>
            <a:r>
              <a:rPr lang="en-US" sz="4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Selected Startup</a:t>
            </a:r>
            <a:endParaRPr lang="en-US" sz="40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0042071" y="1883713"/>
            <a:ext cx="7483929" cy="6306923"/>
            <a:chOff x="10042071" y="1883713"/>
            <a:chExt cx="7483929" cy="6306923"/>
          </a:xfrm>
        </p:grpSpPr>
        <p:grpSp>
          <p:nvGrpSpPr>
            <p:cNvPr id="14" name="Group 4">
              <a:extLst>
                <a:ext uri="{FF2B5EF4-FFF2-40B4-BE49-F238E27FC236}">
                  <a16:creationId xmlns="" xmlns:a16="http://schemas.microsoft.com/office/drawing/2014/main" id="{BAD14876-01AB-BB2B-C2FF-974956BB1E5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413460" y="1883713"/>
              <a:ext cx="6607830" cy="6306923"/>
              <a:chOff x="-366471" y="-11891"/>
              <a:chExt cx="15572971" cy="14863810"/>
            </a:xfrm>
            <a:solidFill>
              <a:schemeClr val="bg1">
                <a:lumMod val="50000"/>
              </a:schemeClr>
            </a:solidFill>
          </p:grpSpPr>
          <p:sp>
            <p:nvSpPr>
              <p:cNvPr id="15" name="Freeform 5">
                <a:extLst>
                  <a:ext uri="{FF2B5EF4-FFF2-40B4-BE49-F238E27FC236}">
                    <a16:creationId xmlns="" xmlns:a16="http://schemas.microsoft.com/office/drawing/2014/main" id="{58A75BAD-38E7-8D64-ADD3-5EDC5EA672B0}"/>
                  </a:ext>
                </a:extLst>
              </p:cNvPr>
              <p:cNvSpPr/>
              <p:nvPr/>
            </p:nvSpPr>
            <p:spPr>
              <a:xfrm>
                <a:off x="-366471" y="-11891"/>
                <a:ext cx="15572971" cy="14863810"/>
              </a:xfrm>
              <a:custGeom>
                <a:avLst/>
                <a:gdLst/>
                <a:ahLst/>
                <a:cxnLst/>
                <a:rect l="l" t="t" r="r" b="b"/>
                <a:pathLst>
                  <a:path w="15572971" h="14863810">
                    <a:moveTo>
                      <a:pt x="7786486" y="11891"/>
                    </a:moveTo>
                    <a:cubicBezTo>
                      <a:pt x="5127664" y="0"/>
                      <a:pt x="2665709" y="1411641"/>
                      <a:pt x="1332855" y="3712286"/>
                    </a:cubicBezTo>
                    <a:cubicBezTo>
                      <a:pt x="0" y="6012931"/>
                      <a:pt x="0" y="8850880"/>
                      <a:pt x="1332855" y="11151525"/>
                    </a:cubicBezTo>
                    <a:cubicBezTo>
                      <a:pt x="2665709" y="13452170"/>
                      <a:pt x="5127664" y="14863811"/>
                      <a:pt x="7786486" y="14851920"/>
                    </a:cubicBezTo>
                    <a:cubicBezTo>
                      <a:pt x="10445306" y="14863811"/>
                      <a:pt x="12907262" y="13452170"/>
                      <a:pt x="14240117" y="11151525"/>
                    </a:cubicBezTo>
                    <a:cubicBezTo>
                      <a:pt x="15572971" y="8850880"/>
                      <a:pt x="15572971" y="6012931"/>
                      <a:pt x="14240117" y="3712286"/>
                    </a:cubicBezTo>
                    <a:cubicBezTo>
                      <a:pt x="12907262" y="1411641"/>
                      <a:pt x="10445306" y="0"/>
                      <a:pt x="7786486" y="1189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Freeform 6">
                <a:extLst>
                  <a:ext uri="{FF2B5EF4-FFF2-40B4-BE49-F238E27FC236}">
                    <a16:creationId xmlns="" xmlns:a16="http://schemas.microsoft.com/office/drawing/2014/main" id="{BF61F217-C915-80B7-0233-96E6A4AB4185}"/>
                  </a:ext>
                </a:extLst>
              </p:cNvPr>
              <p:cNvSpPr/>
              <p:nvPr/>
            </p:nvSpPr>
            <p:spPr>
              <a:xfrm>
                <a:off x="-156193" y="188813"/>
                <a:ext cx="15152414" cy="14462404"/>
              </a:xfrm>
              <a:custGeom>
                <a:avLst/>
                <a:gdLst/>
                <a:ahLst/>
                <a:cxnLst/>
                <a:rect l="l" t="t" r="r" b="b"/>
                <a:pathLst>
                  <a:path w="15152415" h="14462405">
                    <a:moveTo>
                      <a:pt x="7576208" y="11570"/>
                    </a:moveTo>
                    <a:cubicBezTo>
                      <a:pt x="4989189" y="0"/>
                      <a:pt x="2593721" y="1373519"/>
                      <a:pt x="1296860" y="3612034"/>
                    </a:cubicBezTo>
                    <a:cubicBezTo>
                      <a:pt x="0" y="5850548"/>
                      <a:pt x="0" y="8611857"/>
                      <a:pt x="1296860" y="10850372"/>
                    </a:cubicBezTo>
                    <a:cubicBezTo>
                      <a:pt x="2593721" y="13088886"/>
                      <a:pt x="4989189" y="14462405"/>
                      <a:pt x="7576208" y="14450835"/>
                    </a:cubicBezTo>
                    <a:cubicBezTo>
                      <a:pt x="10163226" y="14462405"/>
                      <a:pt x="12558694" y="13088886"/>
                      <a:pt x="13855555" y="10850372"/>
                    </a:cubicBezTo>
                    <a:cubicBezTo>
                      <a:pt x="15152416" y="8611857"/>
                      <a:pt x="15152416" y="5850548"/>
                      <a:pt x="13855555" y="3612034"/>
                    </a:cubicBezTo>
                    <a:cubicBezTo>
                      <a:pt x="12558694" y="1373519"/>
                      <a:pt x="10163226" y="0"/>
                      <a:pt x="7576208" y="1157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2071" y="2705100"/>
              <a:ext cx="7483929" cy="4191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00000" flipV="1">
            <a:off x="5887357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5638800" y="495300"/>
            <a:ext cx="12221511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039"/>
              </a:lnSpc>
            </a:pPr>
            <a:r>
              <a:rPr lang="en-US" sz="88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Rivian’s Key Success Factors</a:t>
            </a:r>
            <a:endParaRPr lang="en-US" sz="88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aphicFrame>
        <p:nvGraphicFramePr>
          <p:cNvPr id="9" name="Content Placeholder 3" descr="Timeline Placeholder ">
            <a:extLst>
              <a:ext uri="{FF2B5EF4-FFF2-40B4-BE49-F238E27FC236}">
                <a16:creationId xmlns="" xmlns:a16="http://schemas.microsoft.com/office/drawing/2014/main" id="{456C4F59-0278-4F82-A986-76CCCF1B32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685890"/>
              </p:ext>
            </p:extLst>
          </p:nvPr>
        </p:nvGraphicFramePr>
        <p:xfrm>
          <a:off x="1905000" y="1714500"/>
          <a:ext cx="14935200" cy="670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0" name="TextBox 6"/>
          <p:cNvSpPr txBox="1"/>
          <p:nvPr/>
        </p:nvSpPr>
        <p:spPr>
          <a:xfrm>
            <a:off x="2781300" y="7658100"/>
            <a:ext cx="127254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6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Rivian's success comes from </a:t>
            </a:r>
            <a:r>
              <a:rPr lang="en-US" sz="36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targeting the adventure EV market, backed by investments from Amazon and Ford</a:t>
            </a:r>
            <a:r>
              <a:rPr lang="en-US" sz="36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with a focus on sustainability, </a:t>
            </a:r>
            <a:r>
              <a:rPr lang="en-US" sz="36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software innovation, and direct customer experience.</a:t>
            </a:r>
            <a:endParaRPr lang="en-US" sz="3600" b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4"/>
          <p:cNvSpPr txBox="1"/>
          <p:nvPr/>
        </p:nvSpPr>
        <p:spPr>
          <a:xfrm>
            <a:off x="1998557" y="6134100"/>
            <a:ext cx="13942011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sz="3400" b="1" i="1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EcoFleet</a:t>
            </a:r>
            <a:r>
              <a:rPr lang="en-US" sz="3400" b="1" i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Mobility </a:t>
            </a:r>
            <a:r>
              <a:rPr lang="en-US" sz="34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is a green last-mile </a:t>
            </a:r>
            <a:r>
              <a:rPr lang="en-US" sz="34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delivery platform </a:t>
            </a:r>
            <a:r>
              <a:rPr lang="en-US" sz="34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designed </a:t>
            </a:r>
            <a:r>
              <a:rPr lang="en-US" sz="34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small and mid-sized e-commerce businesses</a:t>
            </a:r>
            <a:r>
              <a:rPr lang="en-US" sz="34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 It combines a fleet of </a:t>
            </a:r>
            <a:r>
              <a:rPr lang="en-US" sz="34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modified electric cargo scooters </a:t>
            </a:r>
            <a:r>
              <a:rPr lang="en-US" sz="34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with </a:t>
            </a:r>
            <a:r>
              <a:rPr lang="en-US" sz="34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cloud-based delivery tracking system</a:t>
            </a:r>
            <a:r>
              <a:rPr lang="en-US" sz="34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offering transparency, real-time monitoring, and reduced operational costs. Its </a:t>
            </a:r>
            <a:r>
              <a:rPr lang="en-US" sz="34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eco-focused transport model </a:t>
            </a:r>
            <a:r>
              <a:rPr lang="en-US" sz="34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helps retailers achieve faster deliveries while reducing carbon emissions.</a:t>
            </a:r>
            <a:endParaRPr lang="en-US" sz="3400" i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944760" y="509144"/>
            <a:ext cx="8363049" cy="942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39"/>
              </a:lnSpc>
            </a:pPr>
            <a:r>
              <a:rPr lang="en-US" sz="54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Startup Concept</a:t>
            </a:r>
            <a:endParaRPr lang="en-US" sz="54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800100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04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457201" y="27214"/>
            <a:ext cx="16916399" cy="10259786"/>
          </a:xfrm>
          <a:custGeom>
            <a:avLst/>
            <a:gdLst/>
            <a:ahLst/>
            <a:cxnLst/>
            <a:rect l="l" t="t" r="r" b="b"/>
            <a:pathLst>
              <a:path w="17024727" h="10737964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69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371598" y="3848100"/>
            <a:ext cx="7239000" cy="6501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High delivery costs due to fuel-based </a:t>
            </a:r>
            <a:r>
              <a:rPr lang="en-US" sz="32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vehicles</a:t>
            </a: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endParaRPr lang="en-US" sz="3200" b="1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Unreliable third-party </a:t>
            </a:r>
            <a:r>
              <a:rPr lang="en-US" sz="32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couriers</a:t>
            </a: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endParaRPr lang="en-US" sz="3200" b="1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Limited tracking and visibility for </a:t>
            </a:r>
            <a:r>
              <a:rPr lang="en-US" sz="32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businesses</a:t>
            </a: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endParaRPr lang="en-US" sz="3200" b="1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Environmental impact from traditional fleets</a:t>
            </a: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endParaRPr lang="en-US" sz="3200" b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endParaRPr lang="en-US" sz="3200" b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q"/>
            </a:pPr>
            <a:endParaRPr lang="en-US" sz="3200" b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35696" y="1104900"/>
            <a:ext cx="6741573" cy="1381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721"/>
              </a:lnSpc>
            </a:pPr>
            <a:r>
              <a:rPr lang="en-US" sz="8000" b="1" dirty="0" smtClean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PROBLEMS</a:t>
            </a:r>
            <a:endParaRPr lang="en-US" sz="80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10134600" y="1104900"/>
            <a:ext cx="6741573" cy="1381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721"/>
              </a:lnSpc>
            </a:pPr>
            <a:r>
              <a:rPr lang="en-US" sz="8000" b="1" dirty="0" smtClean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SOLUTIONS</a:t>
            </a:r>
            <a:endParaRPr lang="en-US" sz="80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10011225" y="3751542"/>
            <a:ext cx="6781801" cy="6501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Custom electric scooters designed for cargo and long </a:t>
            </a:r>
            <a:r>
              <a:rPr lang="en-US" sz="32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range</a:t>
            </a: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endParaRPr lang="en-US" sz="3200" b="1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Real-time tracking through a cloud-based </a:t>
            </a:r>
            <a:r>
              <a:rPr lang="en-US" sz="32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dashboard</a:t>
            </a: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endParaRPr lang="en-US" sz="3200" b="1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r>
              <a:rPr lang="en-US" sz="3200" b="1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IoT</a:t>
            </a:r>
            <a:r>
              <a:rPr lang="en-US" sz="32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-enabled route optimization and performance </a:t>
            </a:r>
            <a:r>
              <a:rPr lang="en-US" sz="32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monitoring</a:t>
            </a: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endParaRPr lang="en-US" sz="3200" b="1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Zero-emission deliveries that reduce operational costs</a:t>
            </a: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endParaRPr lang="en-US" sz="3200" b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571500" indent="-571500">
              <a:lnSpc>
                <a:spcPts val="3876"/>
              </a:lnSpc>
              <a:buFont typeface="Wingdings" panose="05000000000000000000" pitchFamily="2" charset="2"/>
              <a:buChar char="ü"/>
            </a:pPr>
            <a:endParaRPr lang="en-US" sz="3200" b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6" name="Freeform 4"/>
          <p:cNvSpPr/>
          <p:nvPr/>
        </p:nvSpPr>
        <p:spPr>
          <a:xfrm>
            <a:off x="6948484" y="353079"/>
            <a:ext cx="3324227" cy="3169157"/>
          </a:xfrm>
          <a:custGeom>
            <a:avLst/>
            <a:gdLst/>
            <a:ahLst/>
            <a:cxnLst/>
            <a:rect l="l" t="t" r="r" b="b"/>
            <a:pathLst>
              <a:path w="8115300" h="7989621">
                <a:moveTo>
                  <a:pt x="0" y="0"/>
                </a:moveTo>
                <a:lnTo>
                  <a:pt x="8115300" y="0"/>
                </a:lnTo>
                <a:lnTo>
                  <a:pt x="8115300" y="7989620"/>
                </a:lnTo>
                <a:lnTo>
                  <a:pt x="0" y="798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315830038"/>
              </p:ext>
            </p:extLst>
          </p:nvPr>
        </p:nvGraphicFramePr>
        <p:xfrm>
          <a:off x="2362200" y="3447566"/>
          <a:ext cx="14309726" cy="565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8"/>
          <p:cNvSpPr txBox="1"/>
          <p:nvPr/>
        </p:nvSpPr>
        <p:spPr>
          <a:xfrm>
            <a:off x="3247571" y="1283710"/>
            <a:ext cx="134112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39"/>
              </a:lnSpc>
            </a:pPr>
            <a:r>
              <a:rPr lang="en-US" sz="8000" b="1" dirty="0" smtClean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Lessons from Rivian</a:t>
            </a:r>
            <a:endParaRPr lang="en-US" sz="80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17375"/>
            <a:ext cx="2971800" cy="295859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248722"/>
            <a:ext cx="18288000" cy="1053572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288289" y="2561298"/>
            <a:ext cx="5427026" cy="1132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96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Focus </a:t>
            </a:r>
            <a:r>
              <a:rPr lang="en-US" sz="296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on a niche</a:t>
            </a:r>
            <a: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/>
            </a:r>
            <a:b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</a:br>
            <a:r>
              <a:rPr lang="en-US" sz="2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Target small and mid-sized e-commerce delivery needs</a:t>
            </a:r>
            <a:endParaRPr lang="en-US" sz="2200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180998" y="1351723"/>
            <a:ext cx="1430593" cy="1175104"/>
            <a:chOff x="2730909" y="1840955"/>
            <a:chExt cx="1430593" cy="1175104"/>
          </a:xfrm>
        </p:grpSpPr>
        <p:sp>
          <p:nvSpPr>
            <p:cNvPr id="10" name="Oval 9"/>
            <p:cNvSpPr/>
            <p:nvPr/>
          </p:nvSpPr>
          <p:spPr>
            <a:xfrm>
              <a:off x="2730909" y="1840955"/>
              <a:ext cx="1430593" cy="1175104"/>
            </a:xfrm>
            <a:prstGeom prst="ellipse">
              <a:avLst/>
            </a:prstGeom>
            <a:solidFill>
              <a:srgbClr val="11576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24200" y="2008505"/>
              <a:ext cx="91440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0" b="1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1</a:t>
              </a:r>
              <a:endParaRPr lang="en-GB" sz="5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14" name="TextBox 9"/>
          <p:cNvSpPr txBox="1"/>
          <p:nvPr/>
        </p:nvSpPr>
        <p:spPr>
          <a:xfrm>
            <a:off x="8627895" y="8145543"/>
            <a:ext cx="5213570" cy="1132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962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Lead with sustainability</a:t>
            </a:r>
            <a: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/>
            </a:r>
            <a:b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</a:br>
            <a:r>
              <a:rPr lang="en-US" sz="2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Offer zero-emission, environmentally friendly delivery solutions</a:t>
            </a:r>
            <a:endParaRPr lang="en-US" sz="2000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5" name="TextBox 9"/>
          <p:cNvSpPr txBox="1"/>
          <p:nvPr/>
        </p:nvSpPr>
        <p:spPr>
          <a:xfrm>
            <a:off x="1746673" y="7139152"/>
            <a:ext cx="5097265" cy="1132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962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Integrate hardware + </a:t>
            </a:r>
            <a: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software</a:t>
            </a:r>
            <a: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/>
            </a:r>
            <a:b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</a:br>
            <a:r>
              <a:rPr lang="en-US" sz="2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Combine electric cargo scooters with a smart delivery platform</a:t>
            </a:r>
            <a:endParaRPr lang="en-US" sz="2200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6350286" y="3668705"/>
            <a:ext cx="5612522" cy="1132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962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Build strategic partnerships</a:t>
            </a:r>
            <a: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/>
            </a:r>
            <a:b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</a:br>
            <a:r>
              <a:rPr lang="en-US" sz="2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Collaborate with e-commerce platforms, EV suppliers, and charging providers</a:t>
            </a:r>
            <a:endParaRPr lang="en-US" sz="2200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560086" y="2444377"/>
            <a:ext cx="1430593" cy="1175104"/>
            <a:chOff x="2730909" y="1840955"/>
            <a:chExt cx="1430593" cy="1175104"/>
          </a:xfrm>
        </p:grpSpPr>
        <p:sp>
          <p:nvSpPr>
            <p:cNvPr id="18" name="Oval 17"/>
            <p:cNvSpPr/>
            <p:nvPr/>
          </p:nvSpPr>
          <p:spPr>
            <a:xfrm>
              <a:off x="2730909" y="1840955"/>
              <a:ext cx="1430593" cy="1175104"/>
            </a:xfrm>
            <a:prstGeom prst="ellipse">
              <a:avLst/>
            </a:prstGeom>
            <a:solidFill>
              <a:srgbClr val="11576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24200" y="2008505"/>
              <a:ext cx="91440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0" b="1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3</a:t>
              </a:r>
              <a:endParaRPr lang="en-GB" sz="5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0722364" y="6970439"/>
            <a:ext cx="1430593" cy="1175104"/>
            <a:chOff x="2730909" y="1840955"/>
            <a:chExt cx="1430593" cy="1175104"/>
          </a:xfrm>
        </p:grpSpPr>
        <p:sp>
          <p:nvSpPr>
            <p:cNvPr id="21" name="Oval 20"/>
            <p:cNvSpPr/>
            <p:nvPr/>
          </p:nvSpPr>
          <p:spPr>
            <a:xfrm>
              <a:off x="2730909" y="1840955"/>
              <a:ext cx="1430593" cy="1175104"/>
            </a:xfrm>
            <a:prstGeom prst="ellipse">
              <a:avLst/>
            </a:prstGeom>
            <a:solidFill>
              <a:srgbClr val="11576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24200" y="2008505"/>
              <a:ext cx="91440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0" b="1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4</a:t>
              </a:r>
              <a:endParaRPr lang="en-GB" sz="5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598651" y="5866216"/>
            <a:ext cx="1430593" cy="1175104"/>
            <a:chOff x="2730909" y="1840955"/>
            <a:chExt cx="1430593" cy="1175104"/>
          </a:xfrm>
        </p:grpSpPr>
        <p:sp>
          <p:nvSpPr>
            <p:cNvPr id="24" name="Oval 23"/>
            <p:cNvSpPr/>
            <p:nvPr/>
          </p:nvSpPr>
          <p:spPr>
            <a:xfrm>
              <a:off x="2730909" y="1840955"/>
              <a:ext cx="1430593" cy="1175104"/>
            </a:xfrm>
            <a:prstGeom prst="ellipse">
              <a:avLst/>
            </a:prstGeom>
            <a:solidFill>
              <a:srgbClr val="11576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124200" y="2008505"/>
              <a:ext cx="91440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0" b="1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2</a:t>
              </a:r>
              <a:endParaRPr lang="en-GB" sz="5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6" name="TextBox 9"/>
          <p:cNvSpPr txBox="1"/>
          <p:nvPr/>
        </p:nvSpPr>
        <p:spPr>
          <a:xfrm>
            <a:off x="12649200" y="5410279"/>
            <a:ext cx="5213570" cy="1132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962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Prioritize customer </a:t>
            </a:r>
            <a:r>
              <a:rPr lang="en-US" sz="2962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experience</a:t>
            </a:r>
          </a:p>
          <a:p>
            <a:pPr algn="ctr"/>
            <a:r>
              <a:rPr lang="en-US" sz="2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Provide real-time tracking, transparency, and data insights to retailers</a:t>
            </a:r>
            <a:endParaRPr lang="en-US" sz="2000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4540688" y="4176734"/>
            <a:ext cx="1430593" cy="1175104"/>
            <a:chOff x="2730909" y="1840955"/>
            <a:chExt cx="1430593" cy="1175104"/>
          </a:xfrm>
        </p:grpSpPr>
        <p:sp>
          <p:nvSpPr>
            <p:cNvPr id="28" name="Oval 27"/>
            <p:cNvSpPr/>
            <p:nvPr/>
          </p:nvSpPr>
          <p:spPr>
            <a:xfrm>
              <a:off x="2730909" y="1840955"/>
              <a:ext cx="1430593" cy="1175104"/>
            </a:xfrm>
            <a:prstGeom prst="ellipse">
              <a:avLst/>
            </a:prstGeom>
            <a:solidFill>
              <a:srgbClr val="11576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24200" y="2008505"/>
              <a:ext cx="91440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0" b="1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5</a:t>
              </a:r>
              <a:endParaRPr lang="en-GB" sz="5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30" name="TextBox 8"/>
          <p:cNvSpPr txBox="1"/>
          <p:nvPr/>
        </p:nvSpPr>
        <p:spPr>
          <a:xfrm>
            <a:off x="4867255" y="454912"/>
            <a:ext cx="134112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39"/>
              </a:lnSpc>
            </a:pPr>
            <a:r>
              <a:rPr lang="en-US" sz="6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Rivian Lesson → </a:t>
            </a:r>
            <a:r>
              <a:rPr lang="en-US" sz="6000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EcoFleet</a:t>
            </a:r>
            <a:r>
              <a:rPr lang="en-US" sz="6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Application</a:t>
            </a:r>
            <a:endParaRPr lang="en-US" sz="60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</p:spTree>
    <p:extLst>
      <p:ext uri="{BB962C8B-B14F-4D97-AF65-F5344CB8AC3E}">
        <p14:creationId xmlns:p14="http://schemas.microsoft.com/office/powerpoint/2010/main" val="3366839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248722"/>
            <a:ext cx="18288000" cy="1053572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00000">
            <a:off x="2113643" y="-211341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0" name="TextBox 8"/>
          <p:cNvSpPr txBox="1"/>
          <p:nvPr/>
        </p:nvSpPr>
        <p:spPr>
          <a:xfrm>
            <a:off x="2588986" y="518817"/>
            <a:ext cx="1341120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39"/>
              </a:lnSpc>
            </a:pPr>
            <a:r>
              <a:rPr lang="en-US" sz="6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Anticipated Challenges and Solutions</a:t>
            </a:r>
            <a:endParaRPr lang="en-US" sz="60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580571" y="2159499"/>
            <a:ext cx="4818743" cy="4038600"/>
            <a:chOff x="1371600" y="2393273"/>
            <a:chExt cx="4818743" cy="4038600"/>
          </a:xfrm>
        </p:grpSpPr>
        <p:sp>
          <p:nvSpPr>
            <p:cNvPr id="6" name="Oval 5"/>
            <p:cNvSpPr/>
            <p:nvPr/>
          </p:nvSpPr>
          <p:spPr>
            <a:xfrm>
              <a:off x="1371600" y="2393273"/>
              <a:ext cx="4818743" cy="40386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1003">
              <a:schemeClr val="dk1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16314" y="3335355"/>
              <a:ext cx="420914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High </a:t>
              </a:r>
              <a:r>
                <a:rPr lang="en-US" sz="32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Cost </a:t>
              </a:r>
              <a:r>
                <a:rPr lang="en-US" sz="32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of B</a:t>
              </a:r>
              <a:r>
                <a:rPr lang="en-US" sz="32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uilding </a:t>
              </a:r>
              <a:r>
                <a:rPr lang="en-US" sz="32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S</a:t>
              </a:r>
              <a:r>
                <a:rPr lang="en-US" sz="32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cooter Fleets</a:t>
              </a:r>
              <a:endParaRPr lang="en-GB" sz="32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086429" y="4657948"/>
              <a:ext cx="35814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</a:rPr>
                <a:t>Introduce leasing or partner-up </a:t>
              </a:r>
              <a:r>
                <a:rPr lang="en-US" sz="2800" i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</a:rPr>
                <a:t>options</a:t>
              </a:r>
              <a:endParaRPr lang="en-GB" sz="28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endParaRP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1716314" y="4533900"/>
              <a:ext cx="4209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505200" y="2616646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437742" y="5736254"/>
            <a:ext cx="4818743" cy="4038600"/>
            <a:chOff x="1371600" y="2393273"/>
            <a:chExt cx="4818743" cy="4038600"/>
          </a:xfrm>
        </p:grpSpPr>
        <p:sp>
          <p:nvSpPr>
            <p:cNvPr id="40" name="Oval 39"/>
            <p:cNvSpPr/>
            <p:nvPr/>
          </p:nvSpPr>
          <p:spPr>
            <a:xfrm>
              <a:off x="1371600" y="2393273"/>
              <a:ext cx="4818743" cy="40386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1003">
              <a:schemeClr val="dk2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716314" y="3335355"/>
              <a:ext cx="420914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Limited C</a:t>
              </a:r>
              <a:r>
                <a:rPr lang="en-US" sz="32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harging Infrastructure</a:t>
              </a:r>
              <a:endParaRPr lang="en-GB" sz="32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057400" y="4667590"/>
              <a:ext cx="35814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</a:rPr>
                <a:t>Collaborate with local governments and </a:t>
              </a:r>
              <a:r>
                <a:rPr lang="en-US" sz="2800" i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</a:rPr>
                <a:t>energy startups</a:t>
              </a:r>
              <a:endParaRPr lang="en-GB" sz="28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endParaRPr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1716314" y="4533900"/>
              <a:ext cx="4209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505200" y="2616646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2932229" y="5707081"/>
            <a:ext cx="4818743" cy="4038600"/>
            <a:chOff x="1371600" y="2393273"/>
            <a:chExt cx="4818743" cy="4038600"/>
          </a:xfrm>
        </p:grpSpPr>
        <p:sp>
          <p:nvSpPr>
            <p:cNvPr id="46" name="Oval 45"/>
            <p:cNvSpPr/>
            <p:nvPr/>
          </p:nvSpPr>
          <p:spPr>
            <a:xfrm>
              <a:off x="1371600" y="2393273"/>
              <a:ext cx="4818743" cy="4038600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1003">
              <a:schemeClr val="dk1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16314" y="3335355"/>
              <a:ext cx="420914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Market A</a:t>
              </a:r>
              <a:r>
                <a:rPr lang="en-US" sz="32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doption Barriers</a:t>
              </a:r>
              <a:endParaRPr lang="en-GB" sz="32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057400" y="4667590"/>
              <a:ext cx="35814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</a:rPr>
                <a:t>Pilot programs with small e-commerce </a:t>
              </a:r>
              <a:r>
                <a:rPr lang="en-US" sz="2800" i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</a:rPr>
                <a:t>retailers</a:t>
              </a:r>
              <a:endParaRPr lang="en-GB" sz="28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1716314" y="4533900"/>
              <a:ext cx="4209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505200" y="2616646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8541656" y="2197594"/>
            <a:ext cx="4818743" cy="4038600"/>
            <a:chOff x="1371600" y="2393273"/>
            <a:chExt cx="4818743" cy="4038600"/>
          </a:xfrm>
        </p:grpSpPr>
        <p:sp>
          <p:nvSpPr>
            <p:cNvPr id="52" name="Oval 51"/>
            <p:cNvSpPr/>
            <p:nvPr/>
          </p:nvSpPr>
          <p:spPr>
            <a:xfrm>
              <a:off x="1371600" y="2393273"/>
              <a:ext cx="4818743" cy="4038600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1003">
              <a:schemeClr val="dk2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716314" y="3335355"/>
              <a:ext cx="420914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Competition from E</a:t>
              </a:r>
              <a:r>
                <a:rPr lang="en-US" sz="3200" b="1" dirty="0" smtClean="0">
                  <a:solidFill>
                    <a:schemeClr val="bg1"/>
                  </a:solidFill>
                  <a:latin typeface="Candara" panose="020E0502030303020204" pitchFamily="34" charset="0"/>
                </a:rPr>
                <a:t>xisting Courier</a:t>
              </a:r>
              <a:r>
                <a:rPr lang="en-GB" sz="32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s</a:t>
              </a:r>
              <a:endParaRPr lang="en-US" sz="32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716314" y="4702607"/>
              <a:ext cx="423091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</a:rPr>
                <a:t>Compete on sustainability, transparency, and cost</a:t>
              </a:r>
            </a:p>
            <a:p>
              <a:pPr algn="ctr"/>
              <a:r>
                <a:rPr lang="en-US" sz="28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</a:rPr>
                <a:t>savings.</a:t>
              </a:r>
              <a:endParaRPr lang="en-GB" sz="28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endParaRPr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1716314" y="4533900"/>
              <a:ext cx="4209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3505200" y="2616646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3180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4"/>
          <p:cNvSpPr txBox="1"/>
          <p:nvPr/>
        </p:nvSpPr>
        <p:spPr>
          <a:xfrm>
            <a:off x="1066800" y="3125547"/>
            <a:ext cx="15886406" cy="5501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Rivian shows that </a:t>
            </a:r>
            <a:r>
              <a:rPr lang="en-US" sz="40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success comes from a strong niche, sustainability, and a balance of </a:t>
            </a:r>
            <a:r>
              <a:rPr lang="en-US" sz="40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hardware and </a:t>
            </a:r>
            <a:r>
              <a:rPr lang="en-US" sz="40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software innovation</a:t>
            </a: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 </a:t>
            </a:r>
            <a:endParaRPr lang="en-US" sz="4000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3876"/>
              </a:lnSpc>
            </a:pPr>
            <a:endParaRPr lang="en-US" sz="4000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3876"/>
              </a:lnSpc>
            </a:pPr>
            <a:r>
              <a:rPr lang="en-US" sz="4000" i="1" dirty="0" err="1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EcoFleet</a:t>
            </a:r>
            <a:r>
              <a:rPr lang="en-US" sz="4000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Mobility applies these exact principles through the </a:t>
            </a:r>
            <a:r>
              <a:rPr lang="en-US" sz="40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supply </a:t>
            </a:r>
            <a:r>
              <a:rPr lang="en-US" sz="40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of an </a:t>
            </a:r>
            <a:r>
              <a:rPr lang="en-US" sz="40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eco-friendly, data-driven network for delivery, empowering e-commerce businesses</a:t>
            </a: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 </a:t>
            </a:r>
            <a:endParaRPr lang="en-US" sz="4000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3876"/>
              </a:lnSpc>
            </a:pPr>
            <a:endParaRPr lang="en-US" sz="4000" dirty="0" smtClean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3876"/>
              </a:lnSpc>
            </a:pPr>
            <a:r>
              <a:rPr lang="en-US" sz="4000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By way of </a:t>
            </a: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strategic partnerships, smart technology, and a clear </a:t>
            </a:r>
            <a:r>
              <a:rPr lang="en-US" sz="4000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environmental mission</a:t>
            </a: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4000" b="1" i="1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EcoFleet</a:t>
            </a:r>
            <a:r>
              <a:rPr lang="en-US" sz="40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4000" b="1" dirty="0" smtClean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can change </a:t>
            </a:r>
            <a:r>
              <a:rPr lang="en-US" sz="40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how e-commerce retailers ship products to the masses in much the same way Rivian</a:t>
            </a:r>
          </a:p>
          <a:p>
            <a:pPr algn="ctr">
              <a:lnSpc>
                <a:spcPts val="3876"/>
              </a:lnSpc>
            </a:pPr>
            <a:r>
              <a:rPr lang="en-US" sz="4000" b="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redefined electric mobility.</a:t>
            </a:r>
            <a:endParaRPr lang="en-US" sz="4000" b="1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371600" y="1028700"/>
            <a:ext cx="836304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39"/>
              </a:lnSpc>
            </a:pPr>
            <a:r>
              <a:rPr lang="en-US" sz="9600" b="1" dirty="0" smtClean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OVERVIEW</a:t>
            </a:r>
            <a:endParaRPr lang="en-US" sz="96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</p:spTree>
    <p:extLst>
      <p:ext uri="{BB962C8B-B14F-4D97-AF65-F5344CB8AC3E}">
        <p14:creationId xmlns:p14="http://schemas.microsoft.com/office/powerpoint/2010/main" val="25638093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5243404" y="5626628"/>
            <a:ext cx="7801192" cy="55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YOUR ATTENTION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16060" y="6838817"/>
            <a:ext cx="4855878" cy="55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000" i="1" dirty="0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Questions?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51632" y="4171798"/>
            <a:ext cx="8984736" cy="1451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sz="10006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523</Words>
  <Application>Microsoft Office PowerPoint</Application>
  <PresentationFormat>Custom</PresentationFormat>
  <Paragraphs>83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Wingdings</vt:lpstr>
      <vt:lpstr>HK Grotesk</vt:lpstr>
      <vt:lpstr>Candara</vt:lpstr>
      <vt:lpstr>Arial</vt:lpstr>
      <vt:lpstr>Arial Black</vt:lpstr>
      <vt:lpstr>Calibri</vt:lpstr>
      <vt:lpstr>Times New Roman</vt:lpstr>
      <vt:lpstr>HK Grotesk Italics</vt:lpstr>
      <vt:lpstr>Glacial Indifference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Modern Artificial Intelligence Presentation</dc:title>
  <dc:creator>Ali Nasir</dc:creator>
  <cp:lastModifiedBy>Amir</cp:lastModifiedBy>
  <cp:revision>40</cp:revision>
  <dcterms:created xsi:type="dcterms:W3CDTF">2006-08-16T00:00:00Z</dcterms:created>
  <dcterms:modified xsi:type="dcterms:W3CDTF">2025-11-14T22:25:24Z</dcterms:modified>
  <dc:identifier>DAG2CxUrNNw</dc:identifier>
</cp:coreProperties>
</file>